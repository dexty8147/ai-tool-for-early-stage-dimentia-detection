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14"/>
  </p:notesMasterIdLst>
  <p:sldIdLst>
    <p:sldId id="256" r:id="rId2"/>
    <p:sldId id="269" r:id="rId3"/>
    <p:sldId id="274" r:id="rId4"/>
    <p:sldId id="276" r:id="rId5"/>
    <p:sldId id="275" r:id="rId6"/>
    <p:sldId id="273" r:id="rId7"/>
    <p:sldId id="272" r:id="rId8"/>
    <p:sldId id="271" r:id="rId9"/>
    <p:sldId id="268" r:id="rId10"/>
    <p:sldId id="270" r:id="rId11"/>
    <p:sldId id="265"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0F5DB6-8825-4BF9-9500-2E5D84863416}" v="885" dt="2026-01-14T20:00:32.235"/>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7690726-49DA-4552-BDEB-330DD8EA8BD9}" styleName="Table_0">
    <a:wholeTbl>
      <a:tcTxStyle>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panose="020B0604030504040204"/>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panose="020B0604030504040204"/>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panose="020B0604030504040204"/>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panose="020B0604030504040204"/>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2pPr>
            <a:lvl3pPr marR="0" lvl="2"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3pPr>
            <a:lvl4pPr marR="0" lvl="3"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4pPr>
            <a:lvl5pPr marR="0" lvl="4"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5pPr>
            <a:lvl6pPr marR="0" lvl="5"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R="0" lvl="6"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R="0" lvl="7"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R="0" lvl="8" algn="l" rtl="0">
              <a:spcBef>
                <a:spcPts val="0"/>
              </a:spcBef>
              <a:spcAft>
                <a:spcPts val="0"/>
              </a:spcAft>
              <a:buSzPts val="1400"/>
              <a:buNone/>
              <a:defRPr sz="18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GB"/>
              <a:t>‹#›</a:t>
            </a:fld>
            <a:endParaRPr lang="en-GB"/>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srcRect b="18046"/>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hyperlink" Target="https://ai.googleblog.com/" TargetMode="External"/><Relationship Id="rId3" Type="http://schemas.openxmlformats.org/officeDocument/2006/relationships/hyperlink" Target="https://www.who.int/news-room/fact-sheets/detail/dementia" TargetMode="External"/><Relationship Id="rId7" Type="http://schemas.openxmlformats.org/officeDocument/2006/relationships/hyperlink" Target="https://librosa.org/"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www.tensorflow.org/" TargetMode="External"/><Relationship Id="rId5" Type="http://schemas.openxmlformats.org/officeDocument/2006/relationships/hyperlink" Target="https://scikit-learn.org/" TargetMode="External"/><Relationship Id="rId4" Type="http://schemas.openxmlformats.org/officeDocument/2006/relationships/hyperlink" Target="https://www.alz.org/alzheimers-dementia/what-is-dementia" TargetMode="External"/><Relationship Id="rId9" Type="http://schemas.openxmlformats.org/officeDocument/2006/relationships/hyperlink" Target="https://www.openai.com/"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575" y="1026795"/>
            <a:ext cx="10363200" cy="1508760"/>
          </a:xfrm>
          <a:prstGeom prst="rect">
            <a:avLst/>
          </a:prstGeom>
          <a:noFill/>
          <a:ln>
            <a:noFill/>
          </a:ln>
        </p:spPr>
        <p:txBody>
          <a:bodyPr spcFirstLastPara="1" wrap="square" lIns="91425" tIns="45700" rIns="91425" bIns="45700" anchor="ctr" anchorCtr="0">
            <a:noAutofit/>
          </a:bodyPr>
          <a:lstStyle/>
          <a:p>
            <a:pPr algn="ctr"/>
            <a:r>
              <a:rPr lang="en-IN" altLang="en-US" sz="2250" dirty="0">
                <a:solidFill>
                  <a:schemeClr val="tx1"/>
                </a:solidFill>
                <a:latin typeface="Cambria"/>
                <a:ea typeface="Cambria"/>
              </a:rPr>
              <a:t>AI TOOL for early stage dementia detection</a:t>
            </a:r>
            <a:endParaRPr lang="en-IN" altLang="en-US" sz="225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575" y="2612390"/>
            <a:ext cx="4391025" cy="41783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a:ea typeface="Cambria"/>
              </a:rPr>
              <a:t>Batch Number</a:t>
            </a:r>
            <a:r>
              <a:rPr lang="en-IN" altLang="en-GB" sz="1800" dirty="0">
                <a:latin typeface="Cambria"/>
                <a:ea typeface="Cambria"/>
              </a:rPr>
              <a:t> </a:t>
            </a:r>
            <a:r>
              <a:rPr lang="en-GB" sz="1800" dirty="0">
                <a:latin typeface="Cambria"/>
                <a:ea typeface="Cambria"/>
              </a:rPr>
              <a:t>:</a:t>
            </a:r>
            <a:r>
              <a:rPr lang="en-IN" altLang="en-GB" sz="1800" dirty="0">
                <a:latin typeface="Cambria"/>
                <a:ea typeface="Cambria"/>
              </a:rPr>
              <a:t> CSE-176</a:t>
            </a:r>
            <a:endParaRPr lang="en-IN" altLang="en-GB"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75" y="2721610"/>
            <a:ext cx="5514340" cy="1832610"/>
          </a:xfrm>
          <a:prstGeom prst="rect">
            <a:avLst/>
          </a:prstGeom>
          <a:noFill/>
          <a:ln>
            <a:noFill/>
          </a:ln>
        </p:spPr>
        <p:txBody>
          <a:bodyPr spcFirstLastPara="1" wrap="square" lIns="91425" tIns="45700" rIns="91425" bIns="45700" anchor="t" anchorCtr="0">
            <a:normAutofit lnSpcReduction="10000"/>
          </a:bodyPr>
          <a:lstStyle/>
          <a:p>
            <a:pPr marL="0" marR="0" lvl="0" indent="0" algn="ctr" rtl="0">
              <a:spcBef>
                <a:spcPts val="0"/>
              </a:spcBef>
              <a:spcAft>
                <a:spcPts val="0"/>
              </a:spcAft>
              <a:buClr>
                <a:srgbClr val="17365D"/>
              </a:buClr>
              <a:buSzPts val="2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Under the Supervision of,</a:t>
            </a:r>
          </a:p>
          <a:p>
            <a:pPr marL="457200" marR="0" lvl="1" indent="457200" algn="ctr" rtl="0">
              <a:spcBef>
                <a:spcPts val="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a:p>
            <a:pPr>
              <a:spcBef>
                <a:spcPts val="340"/>
              </a:spcBef>
              <a:buClr>
                <a:srgbClr val="17365D"/>
              </a:buClr>
              <a:buSzPts val="1700"/>
            </a:pPr>
            <a:r>
              <a:rPr lang="en-GB" sz="1700" b="1" dirty="0">
                <a:solidFill>
                  <a:srgbClr val="17365D"/>
                </a:solidFill>
                <a:latin typeface="Cambria"/>
                <a:ea typeface="Cambria"/>
                <a:cs typeface="Verdana" panose="020B0604030504040204"/>
              </a:rPr>
              <a:t>Mr. Sri Ram Katta</a:t>
            </a:r>
            <a:endPar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Associate Professor</a:t>
            </a: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School of Computer Science and Engineering</a:t>
            </a:r>
            <a:endParaRPr dirty="0">
              <a:latin typeface="Cambria" panose="02040503050406030204" pitchFamily="18" charset="0"/>
              <a:ea typeface="Cambria" panose="02040503050406030204" pitchFamily="18" charset="0"/>
            </a:endParaRPr>
          </a:p>
          <a:p>
            <a:pPr marL="0" marR="0" lvl="0" indent="0" algn="l" rtl="0">
              <a:spcBef>
                <a:spcPts val="340"/>
              </a:spcBef>
              <a:spcAft>
                <a:spcPts val="0"/>
              </a:spcAft>
              <a:buClr>
                <a:srgbClr val="17365D"/>
              </a:buClr>
              <a:buSzPts val="1700"/>
              <a:buFont typeface="Arial" panose="020B0604020202020204"/>
              <a:buNone/>
            </a:pPr>
            <a:r>
              <a:rPr lang="en-GB" sz="17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Presidency University</a:t>
            </a:r>
            <a:endParaRPr dirty="0">
              <a:latin typeface="Cambria" panose="02040503050406030204" pitchFamily="18" charset="0"/>
              <a:ea typeface="Cambria" panose="02040503050406030204" pitchFamily="18" charset="0"/>
            </a:endParaRPr>
          </a:p>
          <a:p>
            <a:pPr marL="0" marR="0" lvl="0" indent="0" algn="l" rtl="0">
              <a:spcBef>
                <a:spcPts val="400"/>
              </a:spcBef>
              <a:spcAft>
                <a:spcPts val="0"/>
              </a:spcAft>
              <a:buClr>
                <a:srgbClr val="17365D"/>
              </a:buClr>
              <a:buSzPts val="2000"/>
              <a:buFont typeface="Arial" panose="020B0604020202020204"/>
              <a:buNone/>
            </a:pPr>
            <a:endParaRPr sz="20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graphicFrame>
        <p:nvGraphicFramePr>
          <p:cNvPr id="89" name="Google Shape;89;p13"/>
          <p:cNvGraphicFramePr/>
          <p:nvPr>
            <p:custDataLst>
              <p:tags r:id="rId1"/>
            </p:custDataLst>
          </p:nvPr>
        </p:nvGraphicFramePr>
        <p:xfrm>
          <a:off x="677545" y="3030220"/>
          <a:ext cx="5418455" cy="2194620"/>
        </p:xfrm>
        <a:graphic>
          <a:graphicData uri="http://schemas.openxmlformats.org/drawingml/2006/table">
            <a:tbl>
              <a:tblPr firstRow="1" bandRow="1">
                <a:noFill/>
                <a:tableStyleId>{57690726-49DA-4552-BDEB-330DD8EA8BD9}</a:tableStyleId>
              </a:tblPr>
              <a:tblGrid>
                <a:gridCol w="2084705">
                  <a:extLst>
                    <a:ext uri="{9D8B030D-6E8A-4147-A177-3AD203B41FA5}">
                      <a16:colId xmlns:a16="http://schemas.microsoft.com/office/drawing/2014/main" val="20000"/>
                    </a:ext>
                  </a:extLst>
                </a:gridCol>
                <a:gridCol w="3333750">
                  <a:extLst>
                    <a:ext uri="{9D8B030D-6E8A-4147-A177-3AD203B41FA5}">
                      <a16:colId xmlns:a16="http://schemas.microsoft.com/office/drawing/2014/main" val="20001"/>
                    </a:ext>
                  </a:extLst>
                </a:gridCol>
              </a:tblGrid>
              <a:tr h="365760">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65760">
                <a:tc>
                  <a:txBody>
                    <a:bodyPr/>
                    <a:lstStyle/>
                    <a:p>
                      <a:pPr marL="0" marR="0" lvl="0" indent="0" algn="ctr" rtl="0">
                        <a:spcBef>
                          <a:spcPts val="0"/>
                        </a:spcBef>
                        <a:spcAft>
                          <a:spcPts val="0"/>
                        </a:spcAft>
                        <a:buFont typeface="+mj-lt"/>
                        <a:buNone/>
                      </a:pPr>
                      <a:r>
                        <a:rPr lang="en-IN" sz="1800" u="none" strike="noStrike" cap="none" dirty="0"/>
                        <a:t>20221CSE0268</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PIRUTHVIRAJ S</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65760">
                <a:tc>
                  <a:txBody>
                    <a:bodyPr/>
                    <a:lstStyle/>
                    <a:p>
                      <a:pPr marL="0" marR="0" lvl="0" indent="0" algn="ctr" rtl="0">
                        <a:spcBef>
                          <a:spcPts val="0"/>
                        </a:spcBef>
                        <a:spcAft>
                          <a:spcPts val="0"/>
                        </a:spcAft>
                        <a:buNone/>
                      </a:pPr>
                      <a:r>
                        <a:rPr lang="en-IN" sz="1800" u="none" strike="noStrike" cap="none" dirty="0"/>
                        <a:t>20221CSE0270</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RAFAEL V</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65760">
                <a:tc>
                  <a:txBody>
                    <a:bodyPr/>
                    <a:lstStyle/>
                    <a:p>
                      <a:pPr marL="0" marR="0" lvl="0" indent="0" algn="ctr" rtl="0">
                        <a:spcBef>
                          <a:spcPts val="0"/>
                        </a:spcBef>
                        <a:spcAft>
                          <a:spcPts val="0"/>
                        </a:spcAft>
                        <a:buNone/>
                      </a:pPr>
                      <a:r>
                        <a:rPr lang="en-IN" sz="1800" u="none" strike="noStrike" cap="none" dirty="0"/>
                        <a:t>20221CSE0260</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IN" sz="1800" u="none" strike="noStrike" cap="none" dirty="0"/>
                        <a:t>REVANTH ADITHYA V</a:t>
                      </a: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6576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65760">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algn="ctr">
              <a:buClr>
                <a:srgbClr val="17365D"/>
              </a:buClr>
              <a:buSzPct val="100000"/>
            </a:pPr>
            <a:r>
              <a:rPr lang="en-GB" sz="1800" b="1" dirty="0">
                <a:solidFill>
                  <a:srgbClr val="17365D"/>
                </a:solidFill>
                <a:latin typeface="Cambria"/>
                <a:ea typeface="Cambria"/>
                <a:cs typeface="Verdana" panose="020B0604030504040204"/>
                <a:sym typeface="Verdana" panose="020B0604030504040204"/>
              </a:rPr>
              <a:t>CSE7302-</a:t>
            </a:r>
            <a:r>
              <a:rPr lang="en-GB" sz="1800" b="1" i="0" u="none" strike="noStrike" cap="none" dirty="0">
                <a:solidFill>
                  <a:srgbClr val="17365D"/>
                </a:solidFill>
                <a:latin typeface="Cambria"/>
                <a:ea typeface="Cambria"/>
                <a:cs typeface="Verdana" panose="020B0604030504040204"/>
                <a:sym typeface="Verdana" panose="020B0604030504040204"/>
              </a:rPr>
              <a:t> </a:t>
            </a:r>
            <a:r>
              <a:rPr lang="en-GB" sz="1800" b="1" dirty="0">
                <a:solidFill>
                  <a:srgbClr val="17365D"/>
                </a:solidFill>
                <a:latin typeface="Cambria"/>
                <a:ea typeface="Cambria"/>
                <a:cs typeface="Verdana" panose="020B0604030504040204"/>
                <a:sym typeface="Verdana" panose="020B0604030504040204"/>
              </a:rPr>
              <a:t>Internship / University </a:t>
            </a:r>
            <a:r>
              <a:rPr lang="en-GB" sz="1800" b="1" i="0" u="none" strike="noStrike" cap="none" dirty="0">
                <a:solidFill>
                  <a:srgbClr val="17365D"/>
                </a:solidFill>
                <a:latin typeface="Cambria"/>
                <a:ea typeface="Cambria"/>
                <a:cs typeface="Verdana" panose="020B0604030504040204"/>
                <a:sym typeface="Verdana" panose="020B0604030504040204"/>
              </a:rPr>
              <a:t>Project</a:t>
            </a:r>
            <a:r>
              <a:rPr lang="en-GB" sz="1800" b="1" dirty="0">
                <a:solidFill>
                  <a:srgbClr val="17365D"/>
                </a:solidFill>
                <a:latin typeface="Cambria"/>
                <a:ea typeface="Cambria"/>
                <a:cs typeface="Verdana" panose="020B0604030504040204"/>
                <a:sym typeface="Verdana" panose="020B0604030504040204"/>
              </a:rPr>
              <a:t> Reviews</a:t>
            </a:r>
            <a:endParaRPr sz="1800" dirty="0">
              <a:latin typeface="Cambria"/>
              <a:ea typeface="Cambria"/>
            </a:endParaRPr>
          </a:p>
          <a:p>
            <a:pPr marL="0" marR="0" lvl="0" indent="0" algn="ctr" rtl="0">
              <a:spcBef>
                <a:spcPts val="310"/>
              </a:spcBef>
              <a:spcAft>
                <a:spcPts val="0"/>
              </a:spcAft>
              <a:buClr>
                <a:srgbClr val="17365D"/>
              </a:buClr>
              <a:buSzPct val="100000"/>
              <a:buFont typeface="Arial" panose="020B0604020202020204"/>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rPr>
              <a:t>Review-1</a:t>
            </a:r>
            <a:endParaRPr sz="1800" b="1" i="0" u="none" strike="noStrike" cap="none" dirty="0">
              <a:solidFill>
                <a:srgbClr val="17365D"/>
              </a:solidFill>
              <a:latin typeface="Cambria" panose="02040503050406030204" pitchFamily="18" charset="0"/>
              <a:ea typeface="Cambria" panose="02040503050406030204" pitchFamily="18" charset="0"/>
              <a:cs typeface="Verdana" panose="020B0604030504040204"/>
              <a:sym typeface="Verdana" panose="020B0604030504040204"/>
            </a:endParaRPr>
          </a:p>
        </p:txBody>
      </p:sp>
      <p:sp>
        <p:nvSpPr>
          <p:cNvPr id="8" name="Google Shape;91;p13"/>
          <p:cNvSpPr txBox="1"/>
          <p:nvPr/>
        </p:nvSpPr>
        <p:spPr>
          <a:xfrm>
            <a:off x="0" y="4843145"/>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panose="020B0604020202020204"/>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a:t>
            </a:r>
            <a:r>
              <a:rPr lang="en-IN" alt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a:t>
            </a:r>
            <a:r>
              <a:rPr lang="en-IN" alt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IN"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Computer Science and Engineering</a:t>
            </a:r>
          </a:p>
          <a:p>
            <a:pPr marL="0" marR="0" lvl="0" indent="0" rtl="0">
              <a:spcBef>
                <a:spcPts val="0"/>
              </a:spcBef>
              <a:spcAft>
                <a:spcPts val="0"/>
              </a:spcAft>
              <a:buClr>
                <a:srgbClr val="17365D"/>
              </a:buClr>
              <a:buSzPct val="100000"/>
              <a:buFont typeface="Arial" panose="020B0604020202020204"/>
              <a:buNone/>
            </a:pPr>
            <a:r>
              <a:rPr lang="en-US" sz="1800" b="1" dirty="0">
                <a:solidFill>
                  <a:schemeClr val="accent1"/>
                </a:solidFill>
                <a:latin typeface="Cambria"/>
                <a:ea typeface="Cambria"/>
                <a:cs typeface="Verdana" panose="020B0604030504040204"/>
                <a:sym typeface="Verdana" panose="020B0604030504040204"/>
              </a:rPr>
              <a:t>Name of the </a:t>
            </a:r>
            <a:r>
              <a:rPr lang="en-US" sz="1800" b="1" dirty="0" err="1">
                <a:solidFill>
                  <a:schemeClr val="accent1"/>
                </a:solidFill>
                <a:latin typeface="Cambria"/>
                <a:ea typeface="Cambria"/>
                <a:cs typeface="Verdana" panose="020B0604030504040204"/>
                <a:sym typeface="Verdana" panose="020B0604030504040204"/>
              </a:rPr>
              <a:t>HoD</a:t>
            </a:r>
            <a:r>
              <a:rPr lang="en-IN" altLang="en-US" sz="1800" b="1" dirty="0">
                <a:solidFill>
                  <a:schemeClr val="accent1"/>
                </a:solidFill>
                <a:latin typeface="Cambria"/>
                <a:ea typeface="Cambria"/>
                <a:cs typeface="Verdana" panose="020B0604030504040204"/>
                <a:sym typeface="Verdana" panose="020B0604030504040204"/>
              </a:rPr>
              <a:t> </a:t>
            </a:r>
            <a:r>
              <a:rPr lang="en-US" sz="1800" b="1" dirty="0">
                <a:solidFill>
                  <a:schemeClr val="accent1"/>
                </a:solidFill>
                <a:latin typeface="Cambria"/>
                <a:ea typeface="Cambria"/>
                <a:cs typeface="Verdana" panose="020B0604030504040204"/>
                <a:sym typeface="Verdana" panose="020B0604030504040204"/>
              </a:rPr>
              <a:t>: </a:t>
            </a:r>
            <a:r>
              <a:rPr lang="en-IN" altLang="en-US" sz="1800" b="1" dirty="0">
                <a:solidFill>
                  <a:schemeClr val="accent1"/>
                </a:solidFill>
                <a:latin typeface="Cambria"/>
                <a:ea typeface="Cambria"/>
                <a:cs typeface="Verdana" panose="020B0604030504040204"/>
                <a:sym typeface="Verdana" panose="020B0604030504040204"/>
              </a:rPr>
              <a:t>Dr. </a:t>
            </a:r>
            <a:endParaRPr lang="en-US" sz="1800" b="1"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Name of the Program Project Coordinator</a:t>
            </a:r>
            <a:r>
              <a:rPr lang="en-IN" alt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 </a:t>
            </a:r>
            <a:r>
              <a:rPr lang="en-IN" alt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rPr>
              <a:t>Dr. Jayavadivel Ravi</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panose="020B0604030504040204"/>
              <a:sym typeface="Verdana" panose="020B0604030504040204"/>
            </a:endParaRPr>
          </a:p>
          <a:p>
            <a:pPr lvl="0">
              <a:buClr>
                <a:srgbClr val="17365D"/>
              </a:buClr>
              <a:buSzPct val="100000"/>
            </a:pPr>
            <a:r>
              <a:rPr lang="en-US" sz="1800" b="1" dirty="0">
                <a:solidFill>
                  <a:schemeClr val="accent1"/>
                </a:solidFill>
                <a:latin typeface="Cambria"/>
                <a:ea typeface="Cambria"/>
                <a:cs typeface="Verdana" panose="020B0604030504040204"/>
                <a:sym typeface="Verdana" panose="020B0604030504040204"/>
              </a:rPr>
              <a:t>Name of the School Project Coordinators</a:t>
            </a:r>
            <a:r>
              <a:rPr lang="en-IN" altLang="en-US" sz="1800" b="1" dirty="0">
                <a:solidFill>
                  <a:schemeClr val="accent1"/>
                </a:solidFill>
                <a:latin typeface="Cambria"/>
                <a:ea typeface="Cambria"/>
                <a:cs typeface="Verdana" panose="020B0604030504040204"/>
                <a:sym typeface="Verdana" panose="020B0604030504040204"/>
              </a:rPr>
              <a:t> </a:t>
            </a:r>
            <a:r>
              <a:rPr lang="en-US" sz="1800" b="1" dirty="0">
                <a:solidFill>
                  <a:schemeClr val="accent1"/>
                </a:solidFill>
                <a:latin typeface="Cambria"/>
                <a:ea typeface="Cambria"/>
                <a:cs typeface="Verdana" panose="020B0604030504040204"/>
                <a:sym typeface="Verdana" panose="020B0604030504040204"/>
              </a:rPr>
              <a:t>: </a:t>
            </a:r>
            <a:r>
              <a:rPr lang="en-US" sz="1800" b="1" i="0" u="none" strike="noStrike" cap="none" dirty="0">
                <a:solidFill>
                  <a:schemeClr val="tx1"/>
                </a:solidFill>
                <a:latin typeface="Cambria"/>
                <a:ea typeface="Cambria"/>
                <a:cs typeface="Verdana" panose="020B0604030504040204"/>
                <a:sym typeface="Verdana" panose="020B0604030504040204"/>
              </a:rPr>
              <a:t>Dr. Sampath A K , Dr. Geetha A </a:t>
            </a:r>
            <a:endParaRPr sz="1800" b="1" i="0" u="none" strike="noStrike" cap="none" dirty="0">
              <a:solidFill>
                <a:schemeClr val="tx1"/>
              </a:solidFill>
              <a:latin typeface="Cambria"/>
              <a:ea typeface="Cambria"/>
              <a:cs typeface="Verdana" panose="020B0604030504040204"/>
              <a:sym typeface="Verdana" panose="020B060403050404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r>
              <a:rPr lang="en-GB" dirty="0">
                <a:latin typeface="Cambria"/>
                <a:ea typeface="Cambria"/>
              </a:rPr>
              <a:t>Problem Statement Number - </a:t>
            </a:r>
            <a:r>
              <a:rPr lang="en-GB" dirty="0"/>
              <a:t>SIH25226</a:t>
            </a:r>
            <a:endParaRPr lang="en-US">
              <a:latin typeface="Cambria" panose="02040503050406030204" pitchFamily="18" charset="0"/>
              <a:ea typeface="Cambria" panose="02040503050406030204" pitchFamily="18" charset="0"/>
            </a:endParaRPr>
          </a:p>
          <a:p>
            <a:pPr marL="0" lvl="0" indent="0" algn="l">
              <a:spcBef>
                <a:spcPts val="0"/>
              </a:spcBef>
              <a:spcAft>
                <a:spcPts val="0"/>
              </a:spcAft>
              <a:buSzPts val="2800"/>
              <a:buFont typeface="Verdana" panose="020B0604030504040204"/>
              <a:buNone/>
            </a:pPr>
            <a:endParaRPr lang="en-GB"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812800" y="1143000"/>
            <a:ext cx="10668000" cy="4615815"/>
          </a:xfrm>
          <a:prstGeom prst="rect">
            <a:avLst/>
          </a:prstGeom>
          <a:noFill/>
          <a:ln>
            <a:noFill/>
          </a:ln>
        </p:spPr>
        <p:txBody>
          <a:bodyPr spcFirstLastPara="1" wrap="square" lIns="91425" tIns="45700" rIns="91425" bIns="45700" anchor="t" anchorCtr="0">
            <a:normAutofit fontScale="90000" lnSpcReduction="20000"/>
          </a:bodyPr>
          <a:lstStyle/>
          <a:p>
            <a:pPr marL="342900" indent="-190500" algn="just">
              <a:spcBef>
                <a:spcPts val="0"/>
              </a:spcBef>
              <a:buNone/>
            </a:pPr>
            <a:r>
              <a:rPr lang="en-US" b="1" dirty="0">
                <a:latin typeface="Cambria"/>
                <a:ea typeface="Cambria"/>
              </a:rPr>
              <a:t>Organization</a:t>
            </a:r>
            <a:r>
              <a:rPr lang="en-IN" altLang="en-US" dirty="0">
                <a:latin typeface="Cambria"/>
                <a:ea typeface="Cambria"/>
              </a:rPr>
              <a:t> </a:t>
            </a:r>
            <a:r>
              <a:rPr lang="en-US" dirty="0">
                <a:latin typeface="Cambria"/>
                <a:ea typeface="Cambria"/>
              </a:rPr>
              <a:t>: </a:t>
            </a:r>
            <a:r>
              <a:rPr lang="en-US" dirty="0"/>
              <a:t>Ministry of Health and Family Welfare</a:t>
            </a:r>
          </a:p>
          <a:p>
            <a:pPr marL="342900" lvl="0" indent="-190500" algn="just">
              <a:lnSpc>
                <a:spcPct val="200000"/>
              </a:lnSpc>
              <a:spcBef>
                <a:spcPts val="0"/>
              </a:spcBef>
              <a:buNone/>
            </a:pPr>
            <a:r>
              <a:rPr lang="en-US" b="1" dirty="0">
                <a:latin typeface="Cambria" panose="02040503050406030204" pitchFamily="18" charset="0"/>
                <a:ea typeface="Cambria" panose="02040503050406030204" pitchFamily="18" charset="0"/>
              </a:rPr>
              <a:t>Category (Hardware / Software / Both)</a:t>
            </a:r>
            <a:r>
              <a:rPr lang="en-US" dirty="0">
                <a:latin typeface="Cambria" panose="02040503050406030204" pitchFamily="18" charset="0"/>
                <a:ea typeface="Cambria" panose="02040503050406030204" pitchFamily="18" charset="0"/>
              </a:rPr>
              <a:t> :</a:t>
            </a:r>
            <a:r>
              <a:rPr lang="en-IN" altLang="en-US" dirty="0">
                <a:latin typeface="Cambria" panose="02040503050406030204" pitchFamily="18" charset="0"/>
                <a:ea typeface="Cambria" panose="02040503050406030204" pitchFamily="18" charset="0"/>
              </a:rPr>
              <a:t> Software</a:t>
            </a: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None/>
            </a:pPr>
            <a:r>
              <a:rPr lang="en-US" b="1" dirty="0">
                <a:solidFill>
                  <a:schemeClr val="tx1">
                    <a:lumMod val="95000"/>
                    <a:lumOff val="5000"/>
                  </a:schemeClr>
                </a:solidFill>
                <a:latin typeface="Cambria"/>
                <a:ea typeface="Cambria"/>
              </a:rPr>
              <a:t>Problem Description</a:t>
            </a:r>
            <a:r>
              <a:rPr lang="en-IN" altLang="en-US" dirty="0">
                <a:latin typeface="Cambria"/>
                <a:ea typeface="Cambria"/>
              </a:rPr>
              <a:t> </a:t>
            </a:r>
            <a:r>
              <a:rPr lang="en-US" dirty="0">
                <a:latin typeface="Cambria"/>
                <a:ea typeface="Cambria"/>
              </a:rPr>
              <a:t>:</a:t>
            </a:r>
            <a:r>
              <a:rPr lang="en-IN" altLang="en-US" dirty="0">
                <a:latin typeface="Cambria"/>
                <a:ea typeface="Cambria"/>
              </a:rPr>
              <a:t> </a:t>
            </a:r>
            <a:r>
              <a:rPr lang="en-IN" dirty="0"/>
              <a:t>Early-stage dementia often remains undiagnosed due to subtle symptoms and limited access to early screening tools. This problem focuses on developing an AI-based software solution to analyse cognitive, behavioural, and speech patterns for early risk detection. The system aims to support timely medical consultation and preventive intervention.</a:t>
            </a:r>
          </a:p>
          <a:p>
            <a:pPr marL="342900" indent="-190500" algn="just">
              <a:lnSpc>
                <a:spcPct val="200000"/>
              </a:lnSpc>
              <a:spcBef>
                <a:spcPts val="0"/>
              </a:spcBef>
              <a:buNone/>
            </a:pPr>
            <a:endParaRPr lang="en-IN" altLang="en-US" dirty="0">
              <a:latin typeface="Cambria"/>
              <a:ea typeface="Cambria"/>
            </a:endParaRPr>
          </a:p>
          <a:p>
            <a:pPr marL="342900" indent="-190500" algn="just">
              <a:lnSpc>
                <a:spcPct val="200000"/>
              </a:lnSpc>
              <a:spcBef>
                <a:spcPts val="0"/>
              </a:spcBef>
              <a:buNone/>
            </a:pPr>
            <a:endParaRPr lang="en-IN" altLang="en-US" dirty="0">
              <a:latin typeface="Cambria"/>
              <a:ea typeface="Cambria"/>
            </a:endParaRPr>
          </a:p>
          <a:p>
            <a:pPr marL="342900" lvl="0" indent="-190500" algn="just">
              <a:lnSpc>
                <a:spcPct val="200000"/>
              </a:lnSpc>
              <a:spcBef>
                <a:spcPts val="0"/>
              </a:spcBef>
              <a:buNone/>
            </a:pPr>
            <a:endParaRPr lang="en-IN" alt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endParaRPr lang="en-IN" altLang="en-US" dirty="0">
              <a:latin typeface="Cambria" panose="02040503050406030204" pitchFamily="18" charset="0"/>
              <a:ea typeface="Cambria" panose="02040503050406030204" pitchFamily="18" charset="0"/>
            </a:endParaRPr>
          </a:p>
          <a:p>
            <a:pPr marL="342900" lvl="0" indent="-190500" algn="just">
              <a:lnSpc>
                <a:spcPct val="200000"/>
              </a:lnSpc>
              <a:spcBef>
                <a:spcPts val="0"/>
              </a:spcBef>
              <a:buNone/>
            </a:pPr>
            <a:endParaRPr lang="en-IN" altLang="en-US" dirty="0">
              <a:latin typeface="Cambria" panose="02040503050406030204" pitchFamily="18" charset="0"/>
              <a:ea typeface="Cambria" panose="02040503050406030204" pitchFamily="18" charset="0"/>
            </a:endParaRPr>
          </a:p>
          <a:p>
            <a:pPr marL="342900" indent="-190500" algn="just">
              <a:lnSpc>
                <a:spcPct val="200000"/>
              </a:lnSpc>
              <a:spcBef>
                <a:spcPts val="0"/>
              </a:spcBef>
              <a:buNone/>
            </a:pPr>
            <a:endParaRPr lang="en-US" altLang="en-US" dirty="0">
              <a:latin typeface="Cambria" panose="02040503050406030204" pitchFamily="18" charset="0"/>
              <a:ea typeface="Cambria" panose="02040503050406030204" pitchFamily="18" charset="0"/>
            </a:endParaRPr>
          </a:p>
          <a:p>
            <a:pPr marL="342900" indent="-190500" algn="just">
              <a:lnSpc>
                <a:spcPct val="200000"/>
              </a:lnSpc>
              <a:spcBef>
                <a:spcPts val="0"/>
              </a:spcBef>
              <a:buNone/>
            </a:pPr>
            <a:endParaRPr lang="en-US" altLang="en-US"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Content </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466273"/>
            <a:ext cx="10668000" cy="3924299"/>
          </a:xfrm>
          <a:prstGeom prst="rect">
            <a:avLst/>
          </a:prstGeom>
          <a:noFill/>
          <a:ln>
            <a:noFill/>
          </a:ln>
        </p:spPr>
        <p:txBody>
          <a:bodyPr spcFirstLastPara="1" wrap="square" lIns="91425" tIns="45700" rIns="91425" bIns="45700" anchor="t" anchorCtr="0">
            <a:normAutofit fontScale="70000" lnSpcReduction="20000"/>
          </a:bodyPr>
          <a:lstStyle/>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Problem Statement</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Background and Related work for title Selection</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Analysis of Problem Statement</a:t>
            </a:r>
          </a:p>
          <a:p>
            <a:pPr marL="495300" lvl="0" indent="-342900" algn="just">
              <a:lnSpc>
                <a:spcPct val="200000"/>
              </a:lnSpc>
              <a:spcBef>
                <a:spcPts val="0"/>
              </a:spcBef>
              <a:buFont typeface="Arial" panose="020B0604020202020204" pitchFamily="34" charset="0"/>
              <a:buChar char="•"/>
            </a:pPr>
            <a:r>
              <a:rPr lang="en-US" dirty="0">
                <a:latin typeface="Cambria" panose="02040503050406030204" pitchFamily="18" charset="0"/>
                <a:ea typeface="Cambria" panose="02040503050406030204" pitchFamily="18" charset="0"/>
              </a:rPr>
              <a:t>Innovation or Novel Contributions</a:t>
            </a:r>
            <a:endParaRPr lang="en-US" sz="32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dirty="0" err="1">
                <a:latin typeface="Cambria" panose="02040503050406030204" pitchFamily="18" charset="0"/>
                <a:ea typeface="Cambria" panose="02040503050406030204" pitchFamily="18" charset="0"/>
              </a:rPr>
              <a:t>Git</a:t>
            </a:r>
            <a:r>
              <a:rPr lang="en-US" dirty="0">
                <a:latin typeface="Cambria" panose="02040503050406030204" pitchFamily="18" charset="0"/>
                <a:ea typeface="Cambria" panose="02040503050406030204" pitchFamily="18" charset="0"/>
              </a:rPr>
              <a: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Timeline of the Project</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a:t>Problem Statement</a:t>
            </a:r>
          </a:p>
        </p:txBody>
      </p:sp>
      <p:sp>
        <p:nvSpPr>
          <p:cNvPr id="3" name="Text Placeholder 2"/>
          <p:cNvSpPr>
            <a:spLocks noGrp="1"/>
          </p:cNvSpPr>
          <p:nvPr>
            <p:ph type="body" idx="1"/>
          </p:nvPr>
        </p:nvSpPr>
        <p:spPr/>
        <p:txBody>
          <a:bodyPr>
            <a:normAutofit fontScale="85000" lnSpcReduction="20000"/>
          </a:bodyPr>
          <a:lstStyle/>
          <a:p>
            <a:r>
              <a:rPr lang="en-US" dirty="0"/>
              <a:t>Dementia is a progressive neurological condition that often remains undetected in its early stages due to subtle symptoms and lack of easily accessible screening tools, leading to delayed diagnosis and reduced effectiveness of treatment and care.</a:t>
            </a:r>
          </a:p>
          <a:p>
            <a:r>
              <a:rPr lang="en-US" dirty="0"/>
              <a:t>Early-stage dementia symptoms such as mild memory loss, speech irregularities, and </a:t>
            </a:r>
            <a:r>
              <a:rPr lang="en-US" dirty="0" err="1"/>
              <a:t>behavioural</a:t>
            </a:r>
            <a:r>
              <a:rPr lang="en-US" dirty="0"/>
              <a:t> changes are difficult to identify through traditional clinical methods without </a:t>
            </a:r>
            <a:r>
              <a:rPr lang="en-US" dirty="0" err="1"/>
              <a:t>specialised</a:t>
            </a:r>
            <a:r>
              <a:rPr lang="en-US" dirty="0"/>
              <a:t> tests, which are often costly and time-consuming.</a:t>
            </a:r>
          </a:p>
          <a:p>
            <a:r>
              <a:rPr lang="en-US" dirty="0"/>
              <a:t>With the increasing elderly population, there is a growing need for scalable and technology-driven solutions that can assist in early screening and monitoring of cognitive health in a non-invasive manner.</a:t>
            </a:r>
          </a:p>
          <a:p>
            <a:r>
              <a:rPr lang="en-US" dirty="0"/>
              <a:t>Artificial Intelligence and Machine Learning techniques have the potential to </a:t>
            </a:r>
            <a:r>
              <a:rPr lang="en-US" dirty="0" err="1"/>
              <a:t>analyse</a:t>
            </a:r>
            <a:r>
              <a:rPr lang="en-US" dirty="0"/>
              <a:t> cognitive performance, speech patterns, and </a:t>
            </a:r>
            <a:r>
              <a:rPr lang="en-US" dirty="0" err="1"/>
              <a:t>behavioural</a:t>
            </a:r>
            <a:r>
              <a:rPr lang="en-US" dirty="0"/>
              <a:t> indicators to identify early warning signs that may not be easily noticeable to humans.</a:t>
            </a:r>
          </a:p>
          <a:p>
            <a:r>
              <a:rPr lang="en-US" dirty="0"/>
              <a:t>There is a need to develop an AI-based software solution that can provide early risk assessment for dementia, support timely medical consultation, and promote preventive healthcare without replacing professional medical diagnosis.</a:t>
            </a:r>
          </a:p>
          <a:p>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a:t>Objectives</a:t>
            </a:r>
          </a:p>
        </p:txBody>
      </p:sp>
      <p:sp>
        <p:nvSpPr>
          <p:cNvPr id="3" name="Text Placeholder 2"/>
          <p:cNvSpPr>
            <a:spLocks noGrp="1"/>
          </p:cNvSpPr>
          <p:nvPr>
            <p:ph type="body" idx="1"/>
          </p:nvPr>
        </p:nvSpPr>
        <p:spPr/>
        <p:txBody>
          <a:bodyPr/>
          <a:lstStyle/>
          <a:p>
            <a:r>
              <a:rPr lang="en-IN" dirty="0"/>
              <a:t>Enable early identification of dementia risk.</a:t>
            </a:r>
            <a:endParaRPr lang="en-US" dirty="0"/>
          </a:p>
          <a:p>
            <a:r>
              <a:rPr lang="en-IN" dirty="0"/>
              <a:t>Develop an AI-based cognitive screening system.</a:t>
            </a:r>
            <a:endParaRPr lang="en-US" dirty="0"/>
          </a:p>
          <a:p>
            <a:r>
              <a:rPr lang="en-IN" dirty="0"/>
              <a:t>Analyse speech, behavioural, and cognitive patterns.</a:t>
            </a:r>
            <a:endParaRPr lang="en-US" dirty="0"/>
          </a:p>
          <a:p>
            <a:r>
              <a:rPr lang="en-IN" dirty="0"/>
              <a:t>Provide early risk assessment to support medical consultation.</a:t>
            </a:r>
            <a:endParaRPr lang="en-US" dirty="0"/>
          </a:p>
          <a:p>
            <a:r>
              <a:rPr lang="en-IN" dirty="0"/>
              <a:t>Improve accessibility to preliminary dementia screening.</a:t>
            </a:r>
            <a:endParaRPr lang="en-US" dirty="0"/>
          </a:p>
          <a:p>
            <a:r>
              <a:rPr lang="en-IN" dirty="0"/>
              <a:t>Support preventive and proactive healthcare practices.</a:t>
            </a:r>
            <a:endParaRPr lang="en-US" dirty="0"/>
          </a:p>
          <a:p>
            <a:r>
              <a:rPr lang="en-IN" dirty="0"/>
              <a:t>Reduce delay in clinical evaluation and intervention.</a:t>
            </a:r>
            <a:endParaRPr lang="en-US" dirty="0"/>
          </a:p>
          <a:p>
            <a:r>
              <a:rPr lang="en-IN" dirty="0"/>
              <a:t>Ensure non-invasive and user-friendly assessment.</a:t>
            </a:r>
          </a:p>
          <a:p>
            <a:r>
              <a:rPr lang="en-IN" dirty="0"/>
              <a:t>Promote scalable and cost-effective healthcare solutions.</a:t>
            </a:r>
          </a:p>
          <a:p>
            <a:endParaRPr lang="en-I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fontScale="70000" lnSpcReduction="20000"/>
          </a:bodyPr>
          <a:lstStyle/>
          <a:p>
            <a:pPr algn="just">
              <a:buNone/>
            </a:pPr>
            <a:r>
              <a:rPr lang="en-US"/>
              <a:t>Technology Stack Components:</a:t>
            </a:r>
          </a:p>
          <a:p>
            <a:pPr algn="just">
              <a:buNone/>
            </a:pPr>
            <a:r>
              <a:rPr lang="en-US" dirty="0" err="1"/>
              <a:t>DataCollection</a:t>
            </a:r>
            <a:r>
              <a:rPr lang="en-US" dirty="0"/>
              <a:t> :</a:t>
            </a:r>
            <a:br>
              <a:rPr lang="en-US" dirty="0"/>
            </a:br>
            <a:r>
              <a:rPr lang="en-US" dirty="0"/>
              <a:t> Publicly available medical datasets, cognitive assessment datasets, and speech samples.</a:t>
            </a:r>
          </a:p>
          <a:p>
            <a:pPr algn="just">
              <a:buNone/>
            </a:pPr>
            <a:r>
              <a:rPr lang="en-US" dirty="0"/>
              <a:t>Machine Learning Models :</a:t>
            </a:r>
            <a:br>
              <a:rPr lang="en-US" dirty="0"/>
            </a:br>
            <a:r>
              <a:rPr lang="en-US" dirty="0"/>
              <a:t> Supervised learning models for classification and risk prediction.</a:t>
            </a:r>
          </a:p>
          <a:p>
            <a:pPr algn="just">
              <a:buNone/>
            </a:pPr>
            <a:r>
              <a:rPr lang="en-US" dirty="0"/>
              <a:t>AI Frameworks :</a:t>
            </a:r>
            <a:br>
              <a:rPr lang="en-US" dirty="0"/>
            </a:br>
            <a:r>
              <a:rPr lang="en-US" dirty="0"/>
              <a:t> Python-based frameworks such as TensorFlow, </a:t>
            </a:r>
            <a:r>
              <a:rPr lang="en-US" dirty="0" err="1"/>
              <a:t>PyTorch</a:t>
            </a:r>
            <a:r>
              <a:rPr lang="en-US" dirty="0"/>
              <a:t>, and Scikit-learn.</a:t>
            </a:r>
          </a:p>
          <a:p>
            <a:pPr algn="just">
              <a:buNone/>
            </a:pPr>
            <a:r>
              <a:rPr lang="en-US" dirty="0"/>
              <a:t>Speech Analysis :</a:t>
            </a:r>
            <a:br>
              <a:rPr lang="en-US" dirty="0"/>
            </a:br>
            <a:r>
              <a:rPr lang="en-US" dirty="0"/>
              <a:t> Speech-to-text processing, voice feature extraction, and pattern analysis tools.</a:t>
            </a:r>
          </a:p>
          <a:p>
            <a:pPr algn="just">
              <a:buNone/>
            </a:pPr>
            <a:r>
              <a:rPr lang="en-US" dirty="0"/>
              <a:t>Cognitive Testing :</a:t>
            </a:r>
            <a:br>
              <a:rPr lang="en-US" dirty="0"/>
            </a:br>
            <a:r>
              <a:rPr lang="en-US" dirty="0"/>
              <a:t> Digitized memory, attention, and reaction-time assessment modules.</a:t>
            </a:r>
          </a:p>
          <a:p>
            <a:pPr algn="just">
              <a:buNone/>
            </a:pPr>
            <a:r>
              <a:rPr lang="en-US" dirty="0"/>
              <a:t>Data Processing :</a:t>
            </a:r>
            <a:br>
              <a:rPr lang="en-US" dirty="0"/>
            </a:br>
            <a:r>
              <a:rPr lang="en-US" dirty="0"/>
              <a:t> Data cleaning, normalization, and feature extraction techniques.</a:t>
            </a:r>
          </a:p>
          <a:p>
            <a:pPr algn="just">
              <a:buNone/>
            </a:pPr>
            <a:r>
              <a:rPr lang="en-US" dirty="0"/>
              <a:t>Backend Development :</a:t>
            </a:r>
            <a:br>
              <a:rPr lang="en-US" dirty="0"/>
            </a:br>
            <a:r>
              <a:rPr lang="en-US" dirty="0"/>
              <a:t> Flask / </a:t>
            </a:r>
            <a:r>
              <a:rPr lang="en-US" dirty="0" err="1"/>
              <a:t>FastAPI</a:t>
            </a:r>
            <a:r>
              <a:rPr lang="en-US" dirty="0"/>
              <a:t> for model integration and API services.</a:t>
            </a:r>
          </a:p>
          <a:p>
            <a:pPr algn="just">
              <a:buNone/>
            </a:pPr>
            <a:r>
              <a:rPr lang="en-US" dirty="0"/>
              <a:t>Frontend Interface :</a:t>
            </a:r>
            <a:br>
              <a:rPr lang="en-US" dirty="0"/>
            </a:br>
            <a:r>
              <a:rPr lang="en-US" dirty="0"/>
              <a:t> Web or mobile-based user interface for assessments and results display.</a:t>
            </a:r>
            <a:endParaRPr lang="en-IN" dirty="0"/>
          </a:p>
          <a:p>
            <a:pPr algn="just">
              <a:buNone/>
            </a:pPr>
            <a:r>
              <a:rPr lang="en-US" dirty="0"/>
              <a:t>Deployment :</a:t>
            </a:r>
            <a:br>
              <a:rPr lang="en-US" dirty="0"/>
            </a:br>
            <a:r>
              <a:rPr lang="en-US" dirty="0"/>
              <a:t> Cloud platforms such as Google Cloud, AWS, or Azure.</a:t>
            </a:r>
          </a:p>
          <a:p>
            <a:pPr marL="342900" lvl="0" indent="-190500" algn="just">
              <a:spcBef>
                <a:spcPts val="0"/>
              </a:spcBef>
              <a:spcAft>
                <a:spcPts val="0"/>
              </a:spcAft>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979170"/>
            <a:ext cx="10668000" cy="5116830"/>
          </a:xfrm>
          <a:prstGeom prst="rect">
            <a:avLst/>
          </a:prstGeom>
          <a:noFill/>
          <a:ln>
            <a:noFill/>
          </a:ln>
        </p:spPr>
        <p:txBody>
          <a:bodyPr spcFirstLastPara="1" wrap="square" lIns="91425" tIns="45700" rIns="91425" bIns="45700" anchor="t" anchorCtr="0">
            <a:normAutofit fontScale="85000" lnSpcReduction="20000"/>
          </a:bodyPr>
          <a:lstStyle/>
          <a:p>
            <a:pPr lvl="0" algn="just">
              <a:spcAft>
                <a:spcPts val="0"/>
              </a:spcAft>
              <a:buNone/>
            </a:pPr>
            <a:r>
              <a:rPr lang="en-US" dirty="0"/>
              <a:t>Software and Hardware Requirements:</a:t>
            </a:r>
          </a:p>
          <a:p>
            <a:pPr algn="just">
              <a:buNone/>
            </a:pPr>
            <a:r>
              <a:rPr lang="en-US" dirty="0">
                <a:sym typeface="+mn-ea"/>
              </a:rPr>
              <a:t>Software Platform :</a:t>
            </a:r>
            <a:br>
              <a:rPr lang="en-US" dirty="0"/>
            </a:br>
            <a:r>
              <a:rPr lang="en-US" dirty="0">
                <a:sym typeface="+mn-ea"/>
              </a:rPr>
              <a:t> AI-based web or mobile application for dementia risk screening.</a:t>
            </a:r>
            <a:endParaRPr lang="en-IN" dirty="0"/>
          </a:p>
          <a:p>
            <a:pPr algn="just">
              <a:buNone/>
            </a:pPr>
            <a:r>
              <a:rPr lang="en-US" dirty="0">
                <a:sym typeface="+mn-ea"/>
              </a:rPr>
              <a:t>AI Processing :</a:t>
            </a:r>
            <a:br>
              <a:rPr lang="en-US" dirty="0"/>
            </a:br>
            <a:r>
              <a:rPr lang="en-US" dirty="0">
                <a:sym typeface="+mn-ea"/>
              </a:rPr>
              <a:t> Machine learning model execution on cloud or local servers.</a:t>
            </a:r>
            <a:endParaRPr lang="en-US" dirty="0"/>
          </a:p>
          <a:p>
            <a:pPr algn="just">
              <a:buNone/>
            </a:pPr>
            <a:r>
              <a:rPr lang="en-US" dirty="0">
                <a:sym typeface="+mn-ea"/>
              </a:rPr>
              <a:t>Data Storage :</a:t>
            </a:r>
            <a:br>
              <a:rPr lang="en-US" dirty="0"/>
            </a:br>
            <a:r>
              <a:rPr lang="en-US" dirty="0">
                <a:sym typeface="+mn-ea"/>
              </a:rPr>
              <a:t> Secure cloud storage for user inputs and analysis results.</a:t>
            </a:r>
            <a:endParaRPr lang="en-US" dirty="0"/>
          </a:p>
          <a:p>
            <a:pPr algn="just">
              <a:buNone/>
            </a:pPr>
            <a:r>
              <a:rPr lang="en-US" dirty="0">
                <a:sym typeface="+mn-ea"/>
              </a:rPr>
              <a:t>User Access Control :</a:t>
            </a:r>
            <a:br>
              <a:rPr lang="en-US" dirty="0"/>
            </a:br>
            <a:r>
              <a:rPr lang="en-US" dirty="0">
                <a:sym typeface="+mn-ea"/>
              </a:rPr>
              <a:t> Secure login system with role-based access for users and professionals.</a:t>
            </a:r>
            <a:endParaRPr lang="en-US" dirty="0"/>
          </a:p>
          <a:p>
            <a:pPr algn="just">
              <a:buNone/>
            </a:pPr>
            <a:r>
              <a:rPr lang="en-US" dirty="0"/>
              <a:t>Security &amp; Privacy :</a:t>
            </a:r>
            <a:br>
              <a:rPr lang="en-US" dirty="0"/>
            </a:br>
            <a:r>
              <a:rPr lang="en-US" dirty="0"/>
              <a:t> Encryption of sensitive user data and compliance with data protection standards.</a:t>
            </a:r>
            <a:endParaRPr lang="en-IN" dirty="0"/>
          </a:p>
          <a:p>
            <a:pPr algn="just">
              <a:buNone/>
            </a:pPr>
            <a:r>
              <a:rPr lang="en-US" dirty="0"/>
              <a:t>Device Compatibility :</a:t>
            </a:r>
            <a:br>
              <a:rPr lang="en-US" dirty="0"/>
            </a:br>
            <a:r>
              <a:rPr lang="en-US" dirty="0"/>
              <a:t> Works on standard smartphones, tablets, and computers.</a:t>
            </a:r>
            <a:endParaRPr lang="en-IN" dirty="0"/>
          </a:p>
          <a:p>
            <a:pPr algn="just">
              <a:buNone/>
            </a:pPr>
            <a:r>
              <a:rPr lang="en-US" dirty="0"/>
              <a:t>Internet Requirement :</a:t>
            </a:r>
            <a:br>
              <a:rPr lang="en-US" dirty="0"/>
            </a:br>
            <a:r>
              <a:rPr lang="en-US" dirty="0"/>
              <a:t> Stable internet connection for cloud-based analysis and updates.</a:t>
            </a:r>
          </a:p>
          <a:p>
            <a:pPr algn="just">
              <a:buNone/>
            </a:pPr>
            <a:r>
              <a:rPr lang="en-US" dirty="0"/>
              <a:t>Optional Hardware :</a:t>
            </a:r>
            <a:br>
              <a:rPr lang="en-US" dirty="0"/>
            </a:br>
            <a:r>
              <a:rPr lang="en-US" dirty="0"/>
              <a:t> EEG or voice recording devices (optional for advanced analysis).</a:t>
            </a:r>
            <a:endParaRPr lang="en-IN" dirty="0"/>
          </a:p>
          <a:p>
            <a:pPr marL="342900" lvl="0" indent="-190500" algn="just">
              <a:lnSpc>
                <a:spcPct val="200000"/>
              </a:lnSpc>
              <a:spcBef>
                <a:spcPts val="0"/>
              </a:spcBef>
              <a:spcAft>
                <a:spcPts val="0"/>
              </a:spcAft>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Analysis of Problem Statement </a:t>
            </a:r>
            <a:r>
              <a:rPr lang="en-US" sz="2000" dirty="0">
                <a:latin typeface="Cambria" panose="02040503050406030204" pitchFamily="18" charset="0"/>
                <a:ea typeface="Cambria" panose="02040503050406030204" pitchFamily="18" charset="0"/>
              </a:rPr>
              <a:t>(contd...)</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669925"/>
            <a:ext cx="10668000" cy="5920105"/>
          </a:xfrm>
          <a:prstGeom prst="rect">
            <a:avLst/>
          </a:prstGeom>
          <a:noFill/>
          <a:ln>
            <a:noFill/>
          </a:ln>
        </p:spPr>
        <p:txBody>
          <a:bodyPr spcFirstLastPara="1" wrap="square" lIns="91425" tIns="45700" rIns="91425" bIns="45700" anchor="t" anchorCtr="0">
            <a:noAutofit/>
          </a:bodyPr>
          <a:lstStyle/>
          <a:p>
            <a:pPr algn="just">
              <a:buSzPct val="100000"/>
            </a:pPr>
            <a:endParaRPr lang="en-IN" sz="1650" dirty="0"/>
          </a:p>
          <a:p>
            <a:pPr algn="just">
              <a:buSzPct val="100000"/>
            </a:pPr>
            <a:endParaRPr lang="en-IN" sz="1650" dirty="0"/>
          </a:p>
          <a:p>
            <a:pPr marL="76200" indent="0" algn="just">
              <a:buSzPct val="100000"/>
              <a:buNone/>
            </a:pPr>
            <a:r>
              <a:rPr lang="en-IN" sz="1650"/>
              <a:t>Market:</a:t>
            </a:r>
            <a:br>
              <a:rPr lang="en-IN" sz="1650" dirty="0"/>
            </a:br>
            <a:r>
              <a:rPr lang="en-IN" sz="1650" dirty="0"/>
              <a:t> Increasing elderly population and growing awareness about cognitive health have created a strong demand for early and accessible dementia screening tools across healthcare and community settings.</a:t>
            </a:r>
            <a:endParaRPr lang="en-IN"/>
          </a:p>
          <a:p>
            <a:pPr algn="just"/>
            <a:r>
              <a:rPr lang="en-IN" sz="1650" dirty="0"/>
              <a:t>Problem :</a:t>
            </a:r>
            <a:br>
              <a:rPr lang="en-IN" sz="1650" dirty="0"/>
            </a:br>
            <a:r>
              <a:rPr lang="en-IN" sz="1650" dirty="0"/>
              <a:t> Early-stage dementia often remains undiagnosed due to subtle symptoms, lack of affordable screening tools, and dependence on costly clinical assessments.</a:t>
            </a:r>
          </a:p>
          <a:p>
            <a:pPr algn="just"/>
            <a:r>
              <a:rPr lang="en-IN" sz="1650" dirty="0"/>
              <a:t>Solution :</a:t>
            </a:r>
            <a:br>
              <a:rPr lang="en-IN" sz="1650" dirty="0"/>
            </a:br>
            <a:r>
              <a:rPr lang="en-IN" sz="1650" dirty="0"/>
              <a:t> An AI-based software solution that analyses cognitive, behavioural, and speech patterns to provide early risk assessment and support timely medical consultation.</a:t>
            </a:r>
          </a:p>
          <a:p>
            <a:pPr algn="just"/>
            <a:r>
              <a:rPr lang="en-IN" sz="1650" dirty="0"/>
              <a:t>Feasibility :</a:t>
            </a:r>
            <a:br>
              <a:rPr lang="en-IN" sz="1650" dirty="0"/>
            </a:br>
            <a:r>
              <a:rPr lang="en-IN" sz="1650" dirty="0"/>
              <a:t> The solution is technically feasible using existing AI frameworks and public datasets, cost-effective to implement, and manageable by a small development team.</a:t>
            </a:r>
          </a:p>
          <a:p>
            <a:pPr algn="just"/>
            <a:r>
              <a:rPr lang="en-IN" sz="1650" dirty="0"/>
              <a:t>Impact :</a:t>
            </a:r>
            <a:br>
              <a:rPr lang="en-IN" sz="1650" dirty="0"/>
            </a:br>
            <a:r>
              <a:rPr lang="en-IN" sz="1650" dirty="0"/>
              <a:t> Enables early identification of dementia risk, supports preventive healthcare, reduces diagnostic delays, and improves quality of life through timely intervention.</a:t>
            </a:r>
          </a:p>
          <a:p>
            <a:pPr marL="438150" lvl="0" indent="-285750" algn="just">
              <a:lnSpc>
                <a:spcPct val="200000"/>
              </a:lnSpc>
              <a:spcBef>
                <a:spcPts val="0"/>
              </a:spcBef>
              <a:spcAft>
                <a:spcPts val="0"/>
              </a:spcAft>
              <a:buClr>
                <a:schemeClr val="dk1"/>
              </a:buClr>
              <a:buSzPct val="100000"/>
            </a:pPr>
            <a:endParaRPr lang="en-IN" altLang="en-US" sz="1650" dirty="0">
              <a:latin typeface="Cambria" panose="02040503050406030204" pitchFamily="18" charset="0"/>
              <a:ea typeface="Cambria" panose="020405030504060302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Cambria" panose="02040503050406030204" pitchFamily="18" charset="0"/>
                <a:ea typeface="Cambria" panose="02040503050406030204" pitchFamily="18" charset="0"/>
              </a:rPr>
              <a:t>Github Link</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p:txBody>
      </p:sp>
      <p:sp>
        <p:nvSpPr>
          <p:cNvPr id="5" name="Google Shape;115;p17"/>
          <p:cNvSpPr txBox="1"/>
          <p:nvPr/>
        </p:nvSpPr>
        <p:spPr>
          <a:xfrm>
            <a:off x="812800" y="114300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6pPr>
            <a:lvl7pPr marL="3200400" marR="0" lvl="6"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7pPr>
            <a:lvl8pPr marL="3657600" marR="0" lvl="7"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8pPr>
            <a:lvl9pPr marL="4114800" marR="0" lvl="8" indent="-342900" algn="l" rtl="0">
              <a:lnSpc>
                <a:spcPct val="100000"/>
              </a:lnSpc>
              <a:spcBef>
                <a:spcPts val="360"/>
              </a:spcBef>
              <a:spcAft>
                <a:spcPts val="0"/>
              </a:spcAft>
              <a:buClr>
                <a:schemeClr val="dk1"/>
              </a:buClr>
              <a:buSzPts val="1800"/>
              <a:buFont typeface="Arial" panose="020B0604020202020204"/>
              <a:buChar char="•"/>
              <a:defRPr sz="2000" b="0" i="0" u="none" strike="noStrike" cap="none">
                <a:solidFill>
                  <a:schemeClr val="dk1"/>
                </a:solidFill>
                <a:latin typeface="Bookman Old Style" panose="02050604050505020204"/>
                <a:ea typeface="Bookman Old Style" panose="02050604050505020204"/>
                <a:cs typeface="Bookman Old Style" panose="02050604050505020204"/>
                <a:sym typeface="Bookman Old Style" panose="02050604050505020204"/>
              </a:defRPr>
            </a:lvl9pPr>
          </a:lstStyle>
          <a:p>
            <a:pPr marL="342900" indent="-190500" algn="just">
              <a:spcBef>
                <a:spcPts val="0"/>
              </a:spcBef>
              <a:buSzPct val="100000"/>
              <a:buFont typeface="Arial" panose="020B0604020202020204"/>
              <a:buNone/>
            </a:pPr>
            <a:r>
              <a:rPr lang="en-US" dirty="0">
                <a:latin typeface="Cambria" panose="02040503050406030204" pitchFamily="18" charset="0"/>
                <a:ea typeface="Cambria" panose="02040503050406030204" pitchFamily="18" charset="0"/>
              </a:rPr>
              <a:t>The Github link provided should have public access permission.</a:t>
            </a: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r>
              <a:rPr lang="en-US" b="1" dirty="0">
                <a:solidFill>
                  <a:schemeClr val="accent2">
                    <a:lumMod val="75000"/>
                  </a:schemeClr>
                </a:solidFill>
                <a:latin typeface="Cambria" panose="02040503050406030204" pitchFamily="18" charset="0"/>
                <a:ea typeface="Cambria" panose="02040503050406030204" pitchFamily="18" charset="0"/>
              </a:rPr>
              <a:t>Github Link</a:t>
            </a:r>
            <a:r>
              <a:rPr lang="en-IN" altLang="en-US" b="1" dirty="0">
                <a:solidFill>
                  <a:schemeClr val="accent2">
                    <a:lumMod val="75000"/>
                  </a:schemeClr>
                </a:solidFill>
                <a:latin typeface="Cambria" panose="02040503050406030204" pitchFamily="18" charset="0"/>
                <a:ea typeface="Cambria" panose="02040503050406030204" pitchFamily="18" charset="0"/>
              </a:rPr>
              <a:t> :</a:t>
            </a: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None/>
            </a:pPr>
            <a:endParaRPr lang="en-IN" altLang="en-US" b="1" dirty="0">
              <a:solidFill>
                <a:schemeClr val="accent2">
                  <a:lumMod val="75000"/>
                </a:schemeClr>
              </a:solidFill>
              <a:latin typeface="Cambria"/>
              <a:ea typeface="Cambria"/>
            </a:endParaRPr>
          </a:p>
          <a:p>
            <a:pPr marL="342900" indent="-190500" algn="just">
              <a:spcBef>
                <a:spcPts val="0"/>
              </a:spcBef>
              <a:buNone/>
            </a:pPr>
            <a:r>
              <a:rPr lang="en-IN" dirty="0">
                <a:solidFill>
                  <a:schemeClr val="accent2">
                    <a:lumMod val="75000"/>
                  </a:schemeClr>
                </a:solidFill>
              </a:rPr>
              <a:t>https://github.com/dexty8147/AI-TOOL-FOR-EARLY-STAGE-DIMENTIA-DETECTION.git</a:t>
            </a:r>
          </a:p>
          <a:p>
            <a:pPr marL="342900" indent="-190500" algn="just">
              <a:spcBef>
                <a:spcPts val="0"/>
              </a:spcBef>
              <a:buSzPct val="100000"/>
              <a:buFont typeface="Arial" panose="020B0604020202020204"/>
              <a:buNone/>
            </a:pPr>
            <a:endParaRPr lang="en-US" b="1" dirty="0">
              <a:solidFill>
                <a:schemeClr val="accent2">
                  <a:lumMod val="75000"/>
                </a:schemeClr>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altLang="en-US" b="1" dirty="0">
              <a:solidFill>
                <a:srgbClr val="953735"/>
              </a:solidFill>
              <a:latin typeface="Cambria" panose="02040503050406030204" pitchFamily="18" charset="0"/>
              <a:ea typeface="Cambria" panose="02040503050406030204" pitchFamily="18" charset="0"/>
            </a:endParaRPr>
          </a:p>
          <a:p>
            <a:pPr marL="342900" indent="-190500" algn="just">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panose="020B0604020202020204"/>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IN" dirty="0">
                <a:latin typeface="Cambria" panose="02040503050406030204" pitchFamily="18" charset="0"/>
                <a:ea typeface="Cambria" panose="02040503050406030204" pitchFamily="18" charset="0"/>
              </a:rPr>
              <a:t> </a:t>
            </a:r>
          </a:p>
        </p:txBody>
      </p:sp>
      <p:graphicFrame>
        <p:nvGraphicFramePr>
          <p:cNvPr id="2" name="Table 1">
            <a:extLst>
              <a:ext uri="{FF2B5EF4-FFF2-40B4-BE49-F238E27FC236}">
                <a16:creationId xmlns:a16="http://schemas.microsoft.com/office/drawing/2014/main" id="{D83A22CB-92E3-4E5C-D299-064697B694BE}"/>
              </a:ext>
            </a:extLst>
          </p:cNvPr>
          <p:cNvGraphicFramePr>
            <a:graphicFrameLocks noGrp="1"/>
          </p:cNvGraphicFramePr>
          <p:nvPr>
            <p:extLst>
              <p:ext uri="{D42A27DB-BD31-4B8C-83A1-F6EECF244321}">
                <p14:modId xmlns:p14="http://schemas.microsoft.com/office/powerpoint/2010/main" val="958612953"/>
              </p:ext>
            </p:extLst>
          </p:nvPr>
        </p:nvGraphicFramePr>
        <p:xfrm>
          <a:off x="772438" y="1388301"/>
          <a:ext cx="5431496" cy="4652723"/>
        </p:xfrm>
        <a:graphic>
          <a:graphicData uri="http://schemas.openxmlformats.org/drawingml/2006/table">
            <a:tbl>
              <a:tblPr firstRow="1" bandRow="1">
                <a:tableStyleId>{5C22544A-7EE6-4342-B048-85BDC9FD1C3A}</a:tableStyleId>
              </a:tblPr>
              <a:tblGrid>
                <a:gridCol w="1357874">
                  <a:extLst>
                    <a:ext uri="{9D8B030D-6E8A-4147-A177-3AD203B41FA5}">
                      <a16:colId xmlns:a16="http://schemas.microsoft.com/office/drawing/2014/main" val="1888493388"/>
                    </a:ext>
                  </a:extLst>
                </a:gridCol>
                <a:gridCol w="1357874">
                  <a:extLst>
                    <a:ext uri="{9D8B030D-6E8A-4147-A177-3AD203B41FA5}">
                      <a16:colId xmlns:a16="http://schemas.microsoft.com/office/drawing/2014/main" val="1540345101"/>
                    </a:ext>
                  </a:extLst>
                </a:gridCol>
                <a:gridCol w="1357874">
                  <a:extLst>
                    <a:ext uri="{9D8B030D-6E8A-4147-A177-3AD203B41FA5}">
                      <a16:colId xmlns:a16="http://schemas.microsoft.com/office/drawing/2014/main" val="1111904476"/>
                    </a:ext>
                  </a:extLst>
                </a:gridCol>
                <a:gridCol w="1357874">
                  <a:extLst>
                    <a:ext uri="{9D8B030D-6E8A-4147-A177-3AD203B41FA5}">
                      <a16:colId xmlns:a16="http://schemas.microsoft.com/office/drawing/2014/main" val="127468385"/>
                    </a:ext>
                  </a:extLst>
                </a:gridCol>
              </a:tblGrid>
              <a:tr h="690404">
                <a:tc>
                  <a:txBody>
                    <a:bodyPr/>
                    <a:lstStyle/>
                    <a:p>
                      <a:r>
                        <a:rPr lang="en-US" dirty="0"/>
                        <a:t>PHASE</a:t>
                      </a:r>
                    </a:p>
                  </a:txBody>
                  <a:tcPr/>
                </a:tc>
                <a:tc>
                  <a:txBody>
                    <a:bodyPr/>
                    <a:lstStyle/>
                    <a:p>
                      <a:r>
                        <a:rPr lang="en-US" dirty="0"/>
                        <a:t>ACTIVITY</a:t>
                      </a:r>
                    </a:p>
                  </a:txBody>
                  <a:tcPr/>
                </a:tc>
                <a:tc>
                  <a:txBody>
                    <a:bodyPr/>
                    <a:lstStyle/>
                    <a:p>
                      <a:r>
                        <a:rPr lang="en-US" dirty="0"/>
                        <a:t>START DATE</a:t>
                      </a:r>
                    </a:p>
                  </a:txBody>
                  <a:tcPr/>
                </a:tc>
                <a:tc>
                  <a:txBody>
                    <a:bodyPr/>
                    <a:lstStyle/>
                    <a:p>
                      <a:r>
                        <a:rPr lang="en-US" dirty="0"/>
                        <a:t>END DATE</a:t>
                      </a:r>
                    </a:p>
                  </a:txBody>
                  <a:tcPr/>
                </a:tc>
                <a:extLst>
                  <a:ext uri="{0D108BD9-81ED-4DB2-BD59-A6C34878D82A}">
                    <a16:rowId xmlns:a16="http://schemas.microsoft.com/office/drawing/2014/main" val="2621707262"/>
                  </a:ext>
                </a:extLst>
              </a:tr>
              <a:tr h="1065624">
                <a:tc>
                  <a:txBody>
                    <a:bodyPr/>
                    <a:lstStyle/>
                    <a:p>
                      <a:r>
                        <a:rPr lang="en-US" b="1" dirty="0"/>
                        <a:t>Review-1</a:t>
                      </a:r>
                    </a:p>
                  </a:txBody>
                  <a:tcPr/>
                </a:tc>
                <a:tc>
                  <a:txBody>
                    <a:bodyPr/>
                    <a:lstStyle/>
                    <a:p>
                      <a:r>
                        <a:rPr lang="en-US" dirty="0"/>
                        <a:t>Problem statement and objectives</a:t>
                      </a:r>
                    </a:p>
                  </a:txBody>
                  <a:tcPr/>
                </a:tc>
                <a:tc>
                  <a:txBody>
                    <a:bodyPr/>
                    <a:lstStyle/>
                    <a:p>
                      <a:pPr lvl="0">
                        <a:buNone/>
                      </a:pPr>
                      <a:r>
                        <a:rPr lang="en-US" dirty="0"/>
                        <a:t>10-01-2026</a:t>
                      </a:r>
                      <a:endParaRPr lang="en-US"/>
                    </a:p>
                  </a:txBody>
                  <a:tcPr/>
                </a:tc>
                <a:tc>
                  <a:txBody>
                    <a:bodyPr/>
                    <a:lstStyle/>
                    <a:p>
                      <a:r>
                        <a:rPr lang="en-US" dirty="0"/>
                        <a:t>16-01-2026</a:t>
                      </a:r>
                    </a:p>
                  </a:txBody>
                  <a:tcPr/>
                </a:tc>
                <a:extLst>
                  <a:ext uri="{0D108BD9-81ED-4DB2-BD59-A6C34878D82A}">
                    <a16:rowId xmlns:a16="http://schemas.microsoft.com/office/drawing/2014/main" val="3362616771"/>
                  </a:ext>
                </a:extLst>
              </a:tr>
              <a:tr h="825483">
                <a:tc>
                  <a:txBody>
                    <a:bodyPr/>
                    <a:lstStyle/>
                    <a:p>
                      <a:r>
                        <a:rPr lang="en-US" b="1" dirty="0"/>
                        <a:t>Review-2</a:t>
                      </a:r>
                    </a:p>
                  </a:txBody>
                  <a:tcPr/>
                </a:tc>
                <a:tc>
                  <a:txBody>
                    <a:bodyPr/>
                    <a:lstStyle/>
                    <a:p>
                      <a:r>
                        <a:rPr lang="en-US" dirty="0"/>
                        <a:t>Literature review and model design</a:t>
                      </a:r>
                    </a:p>
                  </a:txBody>
                  <a:tcPr/>
                </a:tc>
                <a:tc>
                  <a:txBody>
                    <a:bodyPr/>
                    <a:lstStyle/>
                    <a:p>
                      <a:r>
                        <a:rPr lang="en-US" dirty="0"/>
                        <a:t>31-01-2026</a:t>
                      </a:r>
                    </a:p>
                  </a:txBody>
                  <a:tcPr/>
                </a:tc>
                <a:tc>
                  <a:txBody>
                    <a:bodyPr/>
                    <a:lstStyle/>
                    <a:p>
                      <a:r>
                        <a:rPr lang="en-US" dirty="0"/>
                        <a:t>06-02</a:t>
                      </a:r>
                      <a:r>
                        <a:rPr lang="en-US" sz="1400" b="0" i="0" u="none" strike="noStrike" noProof="0" dirty="0">
                          <a:solidFill>
                            <a:srgbClr val="000000"/>
                          </a:solidFill>
                          <a:latin typeface="Arial"/>
                        </a:rPr>
                        <a:t>-2026</a:t>
                      </a:r>
                      <a:endParaRPr lang="en-US" dirty="0"/>
                    </a:p>
                  </a:txBody>
                  <a:tcPr/>
                </a:tc>
                <a:extLst>
                  <a:ext uri="{0D108BD9-81ED-4DB2-BD59-A6C34878D82A}">
                    <a16:rowId xmlns:a16="http://schemas.microsoft.com/office/drawing/2014/main" val="40104088"/>
                  </a:ext>
                </a:extLst>
              </a:tr>
              <a:tr h="690404">
                <a:tc>
                  <a:txBody>
                    <a:bodyPr/>
                    <a:lstStyle/>
                    <a:p>
                      <a:pPr lvl="0" algn="l">
                        <a:lnSpc>
                          <a:spcPct val="100000"/>
                        </a:lnSpc>
                        <a:spcBef>
                          <a:spcPts val="0"/>
                        </a:spcBef>
                        <a:spcAft>
                          <a:spcPts val="0"/>
                        </a:spcAft>
                        <a:buNone/>
                      </a:pPr>
                      <a:r>
                        <a:rPr lang="en-US" sz="1400" b="1" i="0" u="none" strike="noStrike" noProof="0" dirty="0">
                          <a:solidFill>
                            <a:srgbClr val="000000"/>
                          </a:solidFill>
                          <a:latin typeface="Arial"/>
                        </a:rPr>
                        <a:t>Review-3</a:t>
                      </a:r>
                    </a:p>
                  </a:txBody>
                  <a:tcPr/>
                </a:tc>
                <a:tc>
                  <a:txBody>
                    <a:bodyPr/>
                    <a:lstStyle/>
                    <a:p>
                      <a:r>
                        <a:rPr lang="en-US" dirty="0"/>
                        <a:t>Development and progress</a:t>
                      </a:r>
                    </a:p>
                  </a:txBody>
                  <a:tcPr/>
                </a:tc>
                <a:tc>
                  <a:txBody>
                    <a:bodyPr/>
                    <a:lstStyle/>
                    <a:p>
                      <a:r>
                        <a:rPr lang="en-US" dirty="0"/>
                        <a:t>28-02-2026</a:t>
                      </a:r>
                    </a:p>
                  </a:txBody>
                  <a:tcPr/>
                </a:tc>
                <a:tc>
                  <a:txBody>
                    <a:bodyPr/>
                    <a:lstStyle/>
                    <a:p>
                      <a:r>
                        <a:rPr lang="en-US" dirty="0"/>
                        <a:t>06-03</a:t>
                      </a:r>
                      <a:r>
                        <a:rPr lang="en-US" sz="1400" b="0" i="0" u="none" strike="noStrike" noProof="0" dirty="0">
                          <a:solidFill>
                            <a:srgbClr val="000000"/>
                          </a:solidFill>
                          <a:latin typeface="Arial"/>
                        </a:rPr>
                        <a:t>-2026</a:t>
                      </a:r>
                      <a:endParaRPr lang="en-US" dirty="0"/>
                    </a:p>
                  </a:txBody>
                  <a:tcPr/>
                </a:tc>
                <a:extLst>
                  <a:ext uri="{0D108BD9-81ED-4DB2-BD59-A6C34878D82A}">
                    <a16:rowId xmlns:a16="http://schemas.microsoft.com/office/drawing/2014/main" val="2118848835"/>
                  </a:ext>
                </a:extLst>
              </a:tr>
              <a:tr h="690404">
                <a:tc>
                  <a:txBody>
                    <a:bodyPr/>
                    <a:lstStyle/>
                    <a:p>
                      <a:pPr lvl="0" algn="l">
                        <a:lnSpc>
                          <a:spcPct val="100000"/>
                        </a:lnSpc>
                        <a:spcBef>
                          <a:spcPts val="0"/>
                        </a:spcBef>
                        <a:spcAft>
                          <a:spcPts val="0"/>
                        </a:spcAft>
                        <a:buNone/>
                      </a:pPr>
                      <a:r>
                        <a:rPr lang="en-US" sz="1400" b="1" i="0" u="none" strike="noStrike" noProof="0" dirty="0">
                          <a:solidFill>
                            <a:srgbClr val="000000"/>
                          </a:solidFill>
                          <a:latin typeface="Arial"/>
                        </a:rPr>
                        <a:t>Review-4</a:t>
                      </a:r>
                    </a:p>
                  </a:txBody>
                  <a:tcPr/>
                </a:tc>
                <a:tc>
                  <a:txBody>
                    <a:bodyPr/>
                    <a:lstStyle/>
                    <a:p>
                      <a:r>
                        <a:rPr lang="en-US" dirty="0"/>
                        <a:t>Testing and final progress</a:t>
                      </a:r>
                    </a:p>
                  </a:txBody>
                  <a:tcPr/>
                </a:tc>
                <a:tc>
                  <a:txBody>
                    <a:bodyPr/>
                    <a:lstStyle/>
                    <a:p>
                      <a:r>
                        <a:rPr lang="en-US" dirty="0"/>
                        <a:t>03-04-2026</a:t>
                      </a:r>
                    </a:p>
                  </a:txBody>
                  <a:tcPr/>
                </a:tc>
                <a:tc>
                  <a:txBody>
                    <a:bodyPr/>
                    <a:lstStyle/>
                    <a:p>
                      <a:r>
                        <a:rPr lang="en-US" dirty="0"/>
                        <a:t>09-04</a:t>
                      </a:r>
                      <a:r>
                        <a:rPr lang="en-US" sz="1400" b="0" i="0" u="none" strike="noStrike" noProof="0" dirty="0">
                          <a:solidFill>
                            <a:srgbClr val="000000"/>
                          </a:solidFill>
                          <a:latin typeface="Arial"/>
                        </a:rPr>
                        <a:t>-2026</a:t>
                      </a:r>
                      <a:endParaRPr lang="en-US" dirty="0"/>
                    </a:p>
                  </a:txBody>
                  <a:tcPr/>
                </a:tc>
                <a:extLst>
                  <a:ext uri="{0D108BD9-81ED-4DB2-BD59-A6C34878D82A}">
                    <a16:rowId xmlns:a16="http://schemas.microsoft.com/office/drawing/2014/main" val="3049214633"/>
                  </a:ext>
                </a:extLst>
              </a:tr>
              <a:tr h="690404">
                <a:tc>
                  <a:txBody>
                    <a:bodyPr/>
                    <a:lstStyle/>
                    <a:p>
                      <a:r>
                        <a:rPr lang="en-US" b="1" dirty="0"/>
                        <a:t>Final Viva</a:t>
                      </a:r>
                    </a:p>
                  </a:txBody>
                  <a:tcPr/>
                </a:tc>
                <a:tc>
                  <a:txBody>
                    <a:bodyPr/>
                    <a:lstStyle/>
                    <a:p>
                      <a:r>
                        <a:rPr lang="en-US" dirty="0"/>
                        <a:t>Submission and viva</a:t>
                      </a:r>
                    </a:p>
                  </a:txBody>
                  <a:tcPr/>
                </a:tc>
                <a:tc>
                  <a:txBody>
                    <a:bodyPr/>
                    <a:lstStyle/>
                    <a:p>
                      <a:r>
                        <a:rPr lang="en-US" dirty="0"/>
                        <a:t>20-04-2026</a:t>
                      </a:r>
                    </a:p>
                  </a:txBody>
                  <a:tcPr/>
                </a:tc>
                <a:tc>
                  <a:txBody>
                    <a:bodyPr/>
                    <a:lstStyle/>
                    <a:p>
                      <a:r>
                        <a:rPr lang="en-US" dirty="0"/>
                        <a:t>26-04</a:t>
                      </a:r>
                      <a:r>
                        <a:rPr lang="en-US" sz="1400" b="0" i="0" u="none" strike="noStrike" noProof="0" dirty="0">
                          <a:solidFill>
                            <a:srgbClr val="000000"/>
                          </a:solidFill>
                          <a:latin typeface="Arial"/>
                        </a:rPr>
                        <a:t>-2026</a:t>
                      </a:r>
                      <a:endParaRPr lang="en-US" dirty="0"/>
                    </a:p>
                  </a:txBody>
                  <a:tcPr/>
                </a:tc>
                <a:extLst>
                  <a:ext uri="{0D108BD9-81ED-4DB2-BD59-A6C34878D82A}">
                    <a16:rowId xmlns:a16="http://schemas.microsoft.com/office/drawing/2014/main" val="277056258"/>
                  </a:ext>
                </a:extLst>
              </a:tr>
            </a:tbl>
          </a:graphicData>
        </a:graphic>
      </p:graphicFrame>
      <p:pic>
        <p:nvPicPr>
          <p:cNvPr id="5" name="Picture 4" descr="A graph with different colored bars&#10;&#10;AI-generated content may be incorrect.">
            <a:extLst>
              <a:ext uri="{FF2B5EF4-FFF2-40B4-BE49-F238E27FC236}">
                <a16:creationId xmlns:a16="http://schemas.microsoft.com/office/drawing/2014/main" id="{8C60D9A9-11C9-6A06-621E-20731E6BE3FD}"/>
              </a:ext>
            </a:extLst>
          </p:cNvPr>
          <p:cNvPicPr>
            <a:picLocks noChangeAspect="1"/>
          </p:cNvPicPr>
          <p:nvPr/>
        </p:nvPicPr>
        <p:blipFill>
          <a:blip r:embed="rId3"/>
          <a:stretch>
            <a:fillRect/>
          </a:stretch>
        </p:blipFill>
        <p:spPr>
          <a:xfrm>
            <a:off x="6202993" y="1388302"/>
            <a:ext cx="5568862" cy="470769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812800" y="1009650"/>
            <a:ext cx="10668000" cy="5086350"/>
          </a:xfrm>
          <a:prstGeom prst="rect">
            <a:avLst/>
          </a:prstGeom>
          <a:noFill/>
          <a:ln>
            <a:noFill/>
          </a:ln>
        </p:spPr>
        <p:txBody>
          <a:bodyPr spcFirstLastPara="1" wrap="square" lIns="91425" tIns="45700" rIns="91425" bIns="45700" anchor="t" anchorCtr="0">
            <a:normAutofit fontScale="70000" lnSpcReduction="20000"/>
          </a:bodyPr>
          <a:lstStyle/>
          <a:p>
            <a:pPr>
              <a:buNone/>
            </a:pPr>
            <a:r>
              <a:rPr lang="en-US"/>
              <a:t>[1]. World Health Organization (WHO), “Dementia – Key Facts,” WHO, 2023.</a:t>
            </a:r>
            <a:br>
              <a:rPr lang="en-US" dirty="0"/>
            </a:br>
            <a:r>
              <a:rPr lang="en-US" dirty="0"/>
              <a:t> </a:t>
            </a:r>
            <a:r>
              <a:rPr lang="en-US" dirty="0">
                <a:hlinkClick r:id="rId3"/>
              </a:rPr>
              <a:t>https://www.who.int/news-room/fact-sheets/detail/dementia</a:t>
            </a:r>
            <a:endParaRPr lang="en-US"/>
          </a:p>
          <a:p>
            <a:pPr>
              <a:buNone/>
            </a:pPr>
            <a:r>
              <a:rPr lang="en-US"/>
              <a:t>[2]. Alzheimer’s Association</a:t>
            </a:r>
            <a:r>
              <a:rPr lang="en-US">
                <a:cs typeface="Verdana" panose="020B0604030504040204" charset="0"/>
              </a:rPr>
              <a:t>, “What Is Dementia?,” Alzheimer’s Association, 2024.</a:t>
            </a:r>
            <a:br>
              <a:rPr lang="en-US" dirty="0">
                <a:cs typeface="Verdana" panose="020B0604030504040204" charset="0"/>
              </a:rPr>
            </a:br>
            <a:r>
              <a:rPr lang="en-US" dirty="0">
                <a:cs typeface="Verdana" panose="020B0604030504040204" charset="0"/>
              </a:rPr>
              <a:t> </a:t>
            </a:r>
            <a:r>
              <a:rPr lang="en-US" dirty="0">
                <a:cs typeface="Verdana" panose="020B0604030504040204" charset="0"/>
                <a:hlinkClick r:id="rId4"/>
              </a:rPr>
              <a:t>https://www.alz.org/alzheimers-dementia/what-is-dementia</a:t>
            </a:r>
            <a:endParaRPr lang="en-US"/>
          </a:p>
          <a:p>
            <a:pPr>
              <a:buNone/>
            </a:pPr>
            <a:r>
              <a:rPr lang="en-US" dirty="0">
                <a:cs typeface="Verdana" panose="020B0604030504040204" charset="0"/>
              </a:rPr>
              <a:t>[3]. M. Gauthier et al., “Artificial Intelligence in Early Detection of Dementia,” </a:t>
            </a:r>
            <a:r>
              <a:rPr lang="en-US" i="1" dirty="0">
                <a:cs typeface="Verdana" panose="020B0604030504040204" charset="0"/>
              </a:rPr>
              <a:t>Journal of Medical Systems</a:t>
            </a:r>
            <a:r>
              <a:rPr lang="en-US" dirty="0">
                <a:cs typeface="Verdana" panose="020B0604030504040204" charset="0"/>
              </a:rPr>
              <a:t>, vol. 45, no. 3, 2021.</a:t>
            </a:r>
            <a:endParaRPr lang="en-IN" dirty="0"/>
          </a:p>
          <a:p>
            <a:pPr>
              <a:buNone/>
            </a:pPr>
            <a:r>
              <a:rPr lang="en-US" dirty="0">
                <a:cs typeface="Verdana" panose="020B0604030504040204" charset="0"/>
              </a:rPr>
              <a:t>[4]. A. Fraser et al., “Detecting Cognitive Decline Using Speech and Language Analysis,” </a:t>
            </a:r>
            <a:r>
              <a:rPr lang="en-US" i="1" dirty="0">
                <a:cs typeface="Verdana" panose="020B0604030504040204" charset="0"/>
              </a:rPr>
              <a:t>IEEE Journal of Biomedical and Health Informatics</a:t>
            </a:r>
            <a:r>
              <a:rPr lang="en-US" dirty="0">
                <a:cs typeface="Verdana" panose="020B0604030504040204" charset="0"/>
              </a:rPr>
              <a:t>, 2020.</a:t>
            </a:r>
            <a:endParaRPr lang="en-US" dirty="0"/>
          </a:p>
          <a:p>
            <a:pPr>
              <a:buNone/>
            </a:pPr>
            <a:r>
              <a:rPr lang="en-US" dirty="0">
                <a:cs typeface="Verdana" panose="020B0604030504040204" charset="0"/>
              </a:rPr>
              <a:t>[5]. Scikit-learn Developers, “Machine Learning in Python,” Scikit-learn Documentation.</a:t>
            </a:r>
            <a:br>
              <a:rPr lang="en-US" dirty="0">
                <a:cs typeface="Verdana" panose="020B0604030504040204" charset="0"/>
              </a:rPr>
            </a:br>
            <a:r>
              <a:rPr lang="en-US" dirty="0">
                <a:cs typeface="Verdana" panose="020B0604030504040204" charset="0"/>
              </a:rPr>
              <a:t> </a:t>
            </a:r>
            <a:r>
              <a:rPr lang="en-US" dirty="0">
                <a:cs typeface="Verdana" panose="020B0604030504040204" charset="0"/>
                <a:hlinkClick r:id="rId5"/>
              </a:rPr>
              <a:t>https://scikit-learn.org</a:t>
            </a:r>
            <a:endParaRPr lang="en-IN"/>
          </a:p>
          <a:p>
            <a:pPr>
              <a:buNone/>
            </a:pPr>
            <a:r>
              <a:rPr lang="en-US" dirty="0">
                <a:cs typeface="Verdana" panose="020B0604030504040204" charset="0"/>
              </a:rPr>
              <a:t>[6]. TensorFlow, “An End-to-End Open Source Machine Learning Platform,” TensorFlow.org.</a:t>
            </a:r>
            <a:br>
              <a:rPr lang="en-US" dirty="0">
                <a:cs typeface="Verdana" panose="020B0604030504040204" charset="0"/>
              </a:rPr>
            </a:br>
            <a:r>
              <a:rPr lang="en-US" dirty="0">
                <a:cs typeface="Verdana" panose="020B0604030504040204" charset="0"/>
              </a:rPr>
              <a:t> </a:t>
            </a:r>
            <a:r>
              <a:rPr lang="en-US" dirty="0">
                <a:cs typeface="Verdana" panose="020B0604030504040204" charset="0"/>
                <a:hlinkClick r:id="rId6"/>
              </a:rPr>
              <a:t>https://www.tensorflow.org</a:t>
            </a:r>
            <a:endParaRPr lang="en-IN"/>
          </a:p>
          <a:p>
            <a:pPr>
              <a:buNone/>
            </a:pPr>
            <a:r>
              <a:rPr lang="en-US" dirty="0">
                <a:cs typeface="Verdana" panose="020B0604030504040204" charset="0"/>
              </a:rPr>
              <a:t>[7]. </a:t>
            </a:r>
            <a:r>
              <a:rPr lang="en-US" dirty="0" err="1">
                <a:cs typeface="Verdana" panose="020B0604030504040204" charset="0"/>
              </a:rPr>
              <a:t>Librosa</a:t>
            </a:r>
            <a:r>
              <a:rPr lang="en-US" dirty="0">
                <a:cs typeface="Verdana" panose="020B0604030504040204" charset="0"/>
              </a:rPr>
              <a:t> Developers, “</a:t>
            </a:r>
            <a:r>
              <a:rPr lang="en-US" dirty="0" err="1">
                <a:cs typeface="Verdana" panose="020B0604030504040204" charset="0"/>
              </a:rPr>
              <a:t>Librosa</a:t>
            </a:r>
            <a:r>
              <a:rPr lang="en-US" dirty="0">
                <a:cs typeface="Verdana" panose="020B0604030504040204" charset="0"/>
              </a:rPr>
              <a:t>: Audio and Music Signal Analysis in Python,” </a:t>
            </a:r>
            <a:r>
              <a:rPr lang="en-US" dirty="0" err="1">
                <a:cs typeface="Verdana" panose="020B0604030504040204" charset="0"/>
              </a:rPr>
              <a:t>Librosa</a:t>
            </a:r>
            <a:r>
              <a:rPr lang="en-US" dirty="0">
                <a:cs typeface="Verdana" panose="020B0604030504040204" charset="0"/>
              </a:rPr>
              <a:t> Documentation.</a:t>
            </a:r>
            <a:br>
              <a:rPr lang="en-US" dirty="0">
                <a:cs typeface="Verdana" panose="020B0604030504040204" charset="0"/>
              </a:rPr>
            </a:br>
            <a:r>
              <a:rPr lang="en-US" dirty="0">
                <a:cs typeface="Verdana" panose="020B0604030504040204" charset="0"/>
              </a:rPr>
              <a:t> </a:t>
            </a:r>
            <a:r>
              <a:rPr lang="en-US" dirty="0">
                <a:cs typeface="Verdana" panose="020B0604030504040204" charset="0"/>
                <a:hlinkClick r:id="rId7"/>
              </a:rPr>
              <a:t>https://librosa.org</a:t>
            </a:r>
            <a:endParaRPr lang="en-US"/>
          </a:p>
          <a:p>
            <a:pPr>
              <a:buNone/>
            </a:pPr>
            <a:r>
              <a:rPr lang="en-US" dirty="0">
                <a:cs typeface="Verdana" panose="020B0604030504040204" charset="0"/>
              </a:rPr>
              <a:t>[8]. Google Research, “Speech Recognition and Cognitive Analysis Using AI,” Google AI Blog.</a:t>
            </a:r>
            <a:br>
              <a:rPr lang="en-US" dirty="0">
                <a:cs typeface="Verdana" panose="020B0604030504040204" charset="0"/>
              </a:rPr>
            </a:br>
            <a:r>
              <a:rPr lang="en-US" dirty="0">
                <a:cs typeface="Verdana" panose="020B0604030504040204" charset="0"/>
              </a:rPr>
              <a:t> </a:t>
            </a:r>
            <a:r>
              <a:rPr lang="en-US" dirty="0">
                <a:cs typeface="Verdana" panose="020B0604030504040204" charset="0"/>
                <a:hlinkClick r:id="rId8"/>
              </a:rPr>
              <a:t>https://ai.googleblog.com</a:t>
            </a:r>
            <a:endParaRPr lang="en-US"/>
          </a:p>
          <a:p>
            <a:pPr>
              <a:buNone/>
            </a:pPr>
            <a:r>
              <a:rPr lang="en-US" dirty="0">
                <a:cs typeface="Verdana" panose="020B0604030504040204" charset="0"/>
              </a:rPr>
              <a:t>[9]. ChatGPT, OpenAI, “AI-assisted Research and Content Generation Tool,” OpenAI.</a:t>
            </a:r>
            <a:br>
              <a:rPr lang="en-US" dirty="0">
                <a:cs typeface="Verdana" panose="020B0604030504040204" charset="0"/>
              </a:rPr>
            </a:br>
            <a:r>
              <a:rPr lang="en-US" dirty="0">
                <a:cs typeface="Verdana" panose="020B0604030504040204" charset="0"/>
              </a:rPr>
              <a:t> </a:t>
            </a:r>
            <a:r>
              <a:rPr lang="en-US" dirty="0">
                <a:cs typeface="Verdana" panose="020B0604030504040204" charset="0"/>
                <a:hlinkClick r:id="rId9"/>
              </a:rPr>
              <a:t>https://www.openai.</a:t>
            </a:r>
            <a:r>
              <a:rPr lang="en-US" dirty="0">
                <a:hlinkClick r:id="rId9"/>
              </a:rPr>
              <a:t>com</a:t>
            </a:r>
            <a:endParaRPr lang="en-US"/>
          </a:p>
          <a:p>
            <a:pPr marL="152400" indent="0">
              <a:spcBef>
                <a:spcPts val="0"/>
              </a:spcBef>
              <a:buNone/>
            </a:pPr>
            <a:endParaRPr lang="en-US" dirty="0">
              <a:latin typeface="Cambria" panose="02040503050406030204" pitchFamily="18" charset="0"/>
              <a:ea typeface="Cambria" panose="020405030504060302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426*142"/>
  <p:tag name="TABLE_ENDDRAG_RECT" val="53*238*426*142"/>
</p:tagLst>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6021</Words>
  <Application>Microsoft Office PowerPoint</Application>
  <PresentationFormat>Widescreen</PresentationFormat>
  <Paragraphs>167</Paragraphs>
  <Slides>12</Slides>
  <Notes>10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Bioinformatics</vt:lpstr>
      <vt:lpstr>AI TOOL for early stage dementia detection</vt:lpstr>
      <vt:lpstr>Problem Statement Number - SIH25226 </vt:lpstr>
      <vt:lpstr>Content </vt:lpstr>
      <vt:lpstr>Problem Statement</vt:lpstr>
      <vt:lpstr>Objectives</vt:lpstr>
      <vt:lpstr>Analysis of Problem Statement</vt:lpstr>
      <vt:lpstr>Analysis of Problem Statement (contd...)</vt:lpstr>
      <vt:lpstr>Analysis of Problem Statement (contd...)</vt:lpstr>
      <vt:lpstr>Github Link</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Vanka Revanth Adithya</cp:lastModifiedBy>
  <cp:revision>231</cp:revision>
  <dcterms:created xsi:type="dcterms:W3CDTF">2025-08-09T12:05:00Z</dcterms:created>
  <dcterms:modified xsi:type="dcterms:W3CDTF">2026-01-15T05:31:27Z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0218BA7B9498400A88E1EB9A5F1C423F_12</vt:lpwstr>
  </property>
  <property fmtid="{D5CDD505-2E9C-101B-9397-08002B2CF9AE}" pid="3" name="KSOProductBuildVer">
    <vt:lpwstr>1033-12.2.0.21931</vt:lpwstr>
  </property>
</Properties>
</file>