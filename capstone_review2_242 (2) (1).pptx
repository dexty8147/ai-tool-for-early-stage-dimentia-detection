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25"/>
  </p:notesMasterIdLst>
  <p:sldIdLst>
    <p:sldId id="256" r:id="rId2"/>
    <p:sldId id="269" r:id="rId3"/>
    <p:sldId id="274" r:id="rId4"/>
    <p:sldId id="288" r:id="rId5"/>
    <p:sldId id="276" r:id="rId6"/>
    <p:sldId id="282" r:id="rId7"/>
    <p:sldId id="283" r:id="rId8"/>
    <p:sldId id="284" r:id="rId9"/>
    <p:sldId id="275" r:id="rId10"/>
    <p:sldId id="273" r:id="rId11"/>
    <p:sldId id="277" r:id="rId12"/>
    <p:sldId id="278" r:id="rId13"/>
    <p:sldId id="279" r:id="rId14"/>
    <p:sldId id="280" r:id="rId15"/>
    <p:sldId id="281" r:id="rId16"/>
    <p:sldId id="268" r:id="rId17"/>
    <p:sldId id="270" r:id="rId18"/>
    <p:sldId id="287" r:id="rId19"/>
    <p:sldId id="286" r:id="rId20"/>
    <p:sldId id="265" r:id="rId21"/>
    <p:sldId id="289" r:id="rId22"/>
    <p:sldId id="285" r:id="rId23"/>
    <p:sldId id="266"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2AD820-764F-490F-84B8-A6A1E9DF908A}" v="844" dt="2026-02-01T21:52:35.904"/>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who.int/news-room/fact-sheets/detail/dementia"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tensorflow.org/" TargetMode="External"/><Relationship Id="rId5" Type="http://schemas.openxmlformats.org/officeDocument/2006/relationships/hyperlink" Target="https://scikit-learn.org/" TargetMode="External"/><Relationship Id="rId4" Type="http://schemas.openxmlformats.org/officeDocument/2006/relationships/hyperlink" Target="https://www.alz.org/alzheimers-dementia/what-is-dementia"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ai.googleblog.com/" TargetMode="External"/><Relationship Id="rId2" Type="http://schemas.openxmlformats.org/officeDocument/2006/relationships/hyperlink" Target="https://librosa.org/" TargetMode="External"/><Relationship Id="rId1" Type="http://schemas.openxmlformats.org/officeDocument/2006/relationships/slideLayout" Target="../slideLayouts/slideLayout2.xml"/><Relationship Id="rId4" Type="http://schemas.openxmlformats.org/officeDocument/2006/relationships/hyperlink" Target="https://www.openai.co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575" y="1026795"/>
            <a:ext cx="10363200" cy="1508760"/>
          </a:xfrm>
          <a:prstGeom prst="rect">
            <a:avLst/>
          </a:prstGeom>
          <a:noFill/>
          <a:ln>
            <a:noFill/>
          </a:ln>
        </p:spPr>
        <p:txBody>
          <a:bodyPr spcFirstLastPara="1" wrap="square" lIns="91425" tIns="45700" rIns="91425" bIns="45700" anchor="ctr" anchorCtr="0">
            <a:noAutofit/>
          </a:bodyPr>
          <a:lstStyle/>
          <a:p>
            <a:pPr algn="ctr"/>
            <a:r>
              <a:rPr lang="en-US" sz="2300" dirty="0">
                <a:solidFill>
                  <a:schemeClr val="tx1"/>
                </a:solidFill>
                <a:latin typeface="Cambria"/>
                <a:ea typeface="Cambria"/>
              </a:rPr>
              <a:t>AI TOOL for early stage dementia detection</a:t>
            </a:r>
            <a:endParaRPr lang="en-IN" sz="2300" b="0" dirty="0">
              <a:solidFill>
                <a:schemeClr val="tx1"/>
              </a:solidFill>
              <a:latin typeface="Cambria"/>
              <a:ea typeface="Cambria"/>
            </a:endParaRPr>
          </a:p>
          <a:p>
            <a:pPr marL="0" lvl="0" indent="0" algn="ctr">
              <a:spcBef>
                <a:spcPts val="0"/>
              </a:spcBef>
              <a:spcAft>
                <a:spcPts val="0"/>
              </a:spcAft>
              <a:buSzPts val="2800"/>
              <a:buFont typeface="Verdana" panose="020B0604030504040204"/>
              <a:buNone/>
            </a:pPr>
            <a:endParaRPr lang="en-IN" altLang="en-US" sz="225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575" y="2612390"/>
            <a:ext cx="4391025" cy="41783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solidFill>
                  <a:schemeClr val="tx1"/>
                </a:solidFill>
                <a:latin typeface="Cambria"/>
                <a:ea typeface="Cambria"/>
              </a:rPr>
              <a:t>Batch Number</a:t>
            </a:r>
            <a:r>
              <a:rPr lang="en-IN" altLang="en-GB" sz="1800" dirty="0">
                <a:solidFill>
                  <a:schemeClr val="tx1"/>
                </a:solidFill>
                <a:latin typeface="Cambria"/>
                <a:ea typeface="Cambria"/>
              </a:rPr>
              <a:t> </a:t>
            </a:r>
            <a:r>
              <a:rPr lang="en-GB" sz="1800" dirty="0">
                <a:solidFill>
                  <a:schemeClr val="tx1"/>
                </a:solidFill>
                <a:latin typeface="Cambria"/>
                <a:ea typeface="Cambria"/>
              </a:rPr>
              <a:t>:</a:t>
            </a:r>
            <a:r>
              <a:rPr lang="en-IN" altLang="en-GB" sz="1800" dirty="0">
                <a:solidFill>
                  <a:schemeClr val="tx1"/>
                </a:solidFill>
                <a:latin typeface="Cambria"/>
                <a:ea typeface="Cambria"/>
              </a:rPr>
              <a:t> CSE-176</a:t>
            </a:r>
            <a:endParaRPr lang="en-IN" altLang="en-GB" sz="1800" dirty="0">
              <a:solidFill>
                <a:schemeClr val="tx1"/>
              </a:solidFill>
              <a:latin typeface="Cambria" panose="02040503050406030204" pitchFamily="18" charset="0"/>
              <a:ea typeface="Cambria" panose="02040503050406030204" pitchFamily="18" charset="0"/>
            </a:endParaRPr>
          </a:p>
        </p:txBody>
      </p:sp>
      <p:sp>
        <p:nvSpPr>
          <p:cNvPr id="90" name="Google Shape;90;p13"/>
          <p:cNvSpPr txBox="1"/>
          <p:nvPr/>
        </p:nvSpPr>
        <p:spPr>
          <a:xfrm>
            <a:off x="6623948" y="2534704"/>
            <a:ext cx="5428076" cy="409253"/>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ts val="2000"/>
              <a:buFont typeface="Arial" panose="020B0604020202020204"/>
              <a:buNone/>
            </a:pPr>
            <a:r>
              <a:rPr lang="en-GB" sz="1800" b="1" i="0" u="none" strike="noStrike" cap="none" dirty="0">
                <a:solidFill>
                  <a:schemeClr val="tx1"/>
                </a:solidFill>
                <a:latin typeface="Cambria"/>
                <a:ea typeface="Cambria"/>
                <a:cs typeface="Verdana" panose="020B0604030504040204"/>
                <a:sym typeface="Verdana" panose="020B0604030504040204"/>
              </a:rPr>
              <a:t>Under the Supervision of,</a:t>
            </a:r>
            <a:endParaRPr lang="en-US" b="1">
              <a:solidFill>
                <a:schemeClr val="tx1"/>
              </a:solidFill>
              <a:ea typeface="Cambria"/>
            </a:endParaRPr>
          </a:p>
          <a:p>
            <a:pPr>
              <a:buSzPts val="2000"/>
            </a:pPr>
            <a:endParaRPr lang="en-GB" sz="2000" b="1" dirty="0">
              <a:solidFill>
                <a:srgbClr val="17365D"/>
              </a:solidFill>
              <a:latin typeface="Cambria"/>
              <a:ea typeface="Cambria"/>
              <a:cs typeface="Verdana" panose="020B0604030504040204"/>
            </a:endParaRPr>
          </a:p>
        </p:txBody>
      </p:sp>
      <p:graphicFrame>
        <p:nvGraphicFramePr>
          <p:cNvPr id="89" name="Google Shape;89;p13"/>
          <p:cNvGraphicFramePr/>
          <p:nvPr>
            <p:custDataLst>
              <p:tags r:id="rId1"/>
            </p:custDataLst>
            <p:extLst>
              <p:ext uri="{D42A27DB-BD31-4B8C-83A1-F6EECF244321}">
                <p14:modId xmlns:p14="http://schemas.microsoft.com/office/powerpoint/2010/main" val="2725103919"/>
              </p:ext>
            </p:extLst>
          </p:nvPr>
        </p:nvGraphicFramePr>
        <p:xfrm>
          <a:off x="677545" y="3030220"/>
          <a:ext cx="6131472" cy="2194620"/>
        </p:xfrm>
        <a:graphic>
          <a:graphicData uri="http://schemas.openxmlformats.org/drawingml/2006/table">
            <a:tbl>
              <a:tblPr firstRow="1" bandRow="1">
                <a:noFill/>
                <a:tableStyleId>{57690726-49DA-4552-BDEB-330DD8EA8BD9}</a:tableStyleId>
              </a:tblPr>
              <a:tblGrid>
                <a:gridCol w="2337182">
                  <a:extLst>
                    <a:ext uri="{9D8B030D-6E8A-4147-A177-3AD203B41FA5}">
                      <a16:colId xmlns:a16="http://schemas.microsoft.com/office/drawing/2014/main" val="20000"/>
                    </a:ext>
                  </a:extLst>
                </a:gridCol>
                <a:gridCol w="3794290">
                  <a:extLst>
                    <a:ext uri="{9D8B030D-6E8A-4147-A177-3AD203B41FA5}">
                      <a16:colId xmlns:a16="http://schemas.microsoft.com/office/drawing/2014/main" val="20001"/>
                    </a:ext>
                  </a:extLst>
                </a:gridCol>
              </a:tblGrid>
              <a:tr h="365760">
                <a:tc>
                  <a:txBody>
                    <a:bodyPr/>
                    <a:lstStyle/>
                    <a:p>
                      <a:pPr marL="0" marR="0" lvl="1" indent="0" algn="l" rtl="0">
                        <a:spcBef>
                          <a:spcPts val="0"/>
                        </a:spcBef>
                        <a:spcAft>
                          <a:spcPts val="0"/>
                        </a:spcAft>
                        <a:buNone/>
                      </a:pPr>
                      <a:r>
                        <a:rPr lang="en-GB" sz="1800" b="1" u="none" strike="noStrike" cap="none" dirty="0">
                          <a:solidFill>
                            <a:schemeClr val="tx1"/>
                          </a:solidFill>
                        </a:rPr>
                        <a:t>Roll Number</a:t>
                      </a:r>
                      <a:endParaRPr sz="1800" b="1" u="none" strike="noStrike" cap="none">
                        <a:solidFill>
                          <a:schemeClr val="tx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GB" sz="1800" b="1" u="none" strike="noStrike" cap="none" dirty="0">
                          <a:solidFill>
                            <a:schemeClr val="tx1"/>
                          </a:solidFill>
                        </a:rPr>
                        <a:t>Student Name                                               </a:t>
                      </a:r>
                      <a:endParaRPr sz="1800" b="1" u="none" strike="noStrike" cap="none" dirty="0">
                        <a:solidFill>
                          <a:schemeClr val="tx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65760">
                <a:tc>
                  <a:txBody>
                    <a:bodyPr/>
                    <a:lstStyle/>
                    <a:p>
                      <a:pPr marL="0" marR="0" lvl="0" indent="0" algn="l" rtl="0">
                        <a:spcBef>
                          <a:spcPts val="0"/>
                        </a:spcBef>
                        <a:spcAft>
                          <a:spcPts val="0"/>
                        </a:spcAft>
                        <a:buFont typeface="+mj-lt"/>
                        <a:buNone/>
                      </a:pPr>
                      <a:r>
                        <a:rPr lang="en-IN" sz="1800" u="none" strike="noStrike" cap="none" dirty="0"/>
                        <a:t>20221CSE0268</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u="none" strike="noStrike" cap="none" dirty="0"/>
                        <a:t>PIRUTHVIRAJ S                                                   </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65760">
                <a:tc>
                  <a:txBody>
                    <a:bodyPr/>
                    <a:lstStyle/>
                    <a:p>
                      <a:pPr marL="0" marR="0" lvl="0" indent="0" algn="l" rtl="0">
                        <a:spcBef>
                          <a:spcPts val="0"/>
                        </a:spcBef>
                        <a:spcAft>
                          <a:spcPts val="0"/>
                        </a:spcAft>
                        <a:buNone/>
                      </a:pPr>
                      <a:r>
                        <a:rPr lang="en-IN" sz="1800" u="none" strike="noStrike" cap="none" dirty="0"/>
                        <a:t>20221CSE0270</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u="none" strike="noStrike" cap="none" dirty="0"/>
                        <a:t>RAFAEL V                                                                                        </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65760">
                <a:tc>
                  <a:txBody>
                    <a:bodyPr/>
                    <a:lstStyle/>
                    <a:p>
                      <a:pPr marL="0" marR="0" lvl="0" indent="0" algn="l" rtl="0">
                        <a:spcBef>
                          <a:spcPts val="0"/>
                        </a:spcBef>
                        <a:spcAft>
                          <a:spcPts val="0"/>
                        </a:spcAft>
                        <a:buNone/>
                      </a:pPr>
                      <a:r>
                        <a:rPr lang="en-IN" sz="1800" u="none" strike="noStrike" cap="none" dirty="0"/>
                        <a:t>20221CSE0260</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IN" sz="1800" u="none" strike="noStrike" cap="none" dirty="0"/>
                        <a:t>REVANTH ADITHYA V                                                       </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65760">
                <a:tc>
                  <a:txBody>
                    <a:bodyPr/>
                    <a:lstStyle/>
                    <a:p>
                      <a:pPr marL="0" marR="0" lvl="0" indent="0" algn="l"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65760">
                <a:tc>
                  <a:txBody>
                    <a:bodyPr/>
                    <a:lstStyle/>
                    <a:p>
                      <a:pPr marL="0" marR="0" lvl="0" indent="0" algn="l"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098980" y="35801"/>
            <a:ext cx="9050179" cy="959407"/>
          </a:xfrm>
          <a:prstGeom prst="rect">
            <a:avLst/>
          </a:prstGeom>
          <a:noFill/>
          <a:ln>
            <a:noFill/>
          </a:ln>
        </p:spPr>
        <p:txBody>
          <a:bodyPr spcFirstLastPara="1" wrap="square" lIns="91425" tIns="45700" rIns="91425" bIns="45700" anchor="t" anchorCtr="0">
            <a:noAutofit/>
          </a:bodyPr>
          <a:lstStyle/>
          <a:p>
            <a:pPr algn="ctr"/>
            <a:r>
              <a:rPr lang="en-GB" sz="1800" b="1" dirty="0">
                <a:solidFill>
                  <a:schemeClr val="tx1"/>
                </a:solidFill>
                <a:ea typeface="Cambria"/>
                <a:sym typeface="Verdana" panose="020B0604030504040204"/>
              </a:rPr>
              <a:t>CSE7302- Internship / University </a:t>
            </a:r>
            <a:r>
              <a:rPr lang="en-GB" sz="1800" b="1" i="0" u="none" strike="noStrike" cap="none" dirty="0">
                <a:solidFill>
                  <a:schemeClr val="tx1"/>
                </a:solidFill>
                <a:ea typeface="Cambria"/>
                <a:sym typeface="Verdana" panose="020B0604030504040204"/>
              </a:rPr>
              <a:t>Project</a:t>
            </a:r>
            <a:r>
              <a:rPr lang="en-GB" sz="1800" b="1" dirty="0">
                <a:solidFill>
                  <a:schemeClr val="tx1"/>
                </a:solidFill>
                <a:ea typeface="Cambria"/>
                <a:sym typeface="Verdana" panose="020B0604030504040204"/>
              </a:rPr>
              <a:t> Reviews</a:t>
            </a:r>
            <a:endParaRPr lang="en-GB" sz="1800" b="1" dirty="0">
              <a:solidFill>
                <a:schemeClr val="tx1"/>
              </a:solidFill>
              <a:ea typeface="Cambria"/>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chemeClr val="tx1"/>
                </a:solidFill>
                <a:latin typeface="Cambria"/>
                <a:ea typeface="Cambria"/>
                <a:cs typeface="Verdana" panose="020B0604030504040204"/>
                <a:sym typeface="Verdana" panose="020B0604030504040204"/>
              </a:rPr>
              <a:t>Review-</a:t>
            </a:r>
            <a:r>
              <a:rPr lang="en-IN" altLang="en-GB" sz="1800" b="1" i="0" u="none" strike="noStrike" cap="none" dirty="0">
                <a:solidFill>
                  <a:schemeClr val="tx1"/>
                </a:solidFill>
                <a:latin typeface="Cambria"/>
                <a:ea typeface="Cambria"/>
                <a:cs typeface="Verdana" panose="020B0604030504040204"/>
                <a:sym typeface="Verdana" panose="020B0604030504040204"/>
              </a:rPr>
              <a:t>2</a:t>
            </a:r>
            <a:endParaRPr lang="en-IN" altLang="en-GB" sz="1800" b="1" i="0" u="none" strike="noStrike" cap="none" dirty="0">
              <a:solidFill>
                <a:schemeClr val="tx1"/>
              </a:solidFill>
              <a:latin typeface="Cambria"/>
              <a:ea typeface="Cambria"/>
              <a:cs typeface="Verdana" panose="020B0604030504040204"/>
            </a:endParaRPr>
          </a:p>
        </p:txBody>
      </p:sp>
      <p:sp>
        <p:nvSpPr>
          <p:cNvPr id="8" name="Google Shape;91;p13"/>
          <p:cNvSpPr txBox="1"/>
          <p:nvPr/>
        </p:nvSpPr>
        <p:spPr>
          <a:xfrm>
            <a:off x="0" y="4843145"/>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a:t>
            </a:r>
            <a:r>
              <a:rPr lang="en-IN" alt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a:t>
            </a:r>
            <a:r>
              <a:rPr lang="en-IN" alt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Computer Science and Engineering</a:t>
            </a:r>
          </a:p>
          <a:p>
            <a:pPr marL="0" marR="0" lvl="0" indent="0" rtl="0">
              <a:spcBef>
                <a:spcPts val="0"/>
              </a:spcBef>
              <a:spcAft>
                <a:spcPts val="0"/>
              </a:spcAft>
              <a:buClr>
                <a:srgbClr val="17365D"/>
              </a:buClr>
              <a:buSzPct val="100000"/>
              <a:buFont typeface="Arial" panose="020B0604020202020204"/>
              <a:buNone/>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a:t>
            </a:r>
            <a:r>
              <a:rPr lang="en-IN" alt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alt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Dr. Asif Mohammed</a:t>
            </a:r>
            <a:endPar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i="0" u="none" strike="noStrike" cap="none" dirty="0">
                <a:solidFill>
                  <a:schemeClr val="accent1"/>
                </a:solidFill>
                <a:latin typeface="Cambria"/>
                <a:ea typeface="Cambria"/>
                <a:cs typeface="Verdana" panose="020B0604030504040204"/>
                <a:sym typeface="Verdana" panose="020B0604030504040204"/>
              </a:rPr>
              <a:t>Name of the Program Project Coordinator</a:t>
            </a:r>
            <a:r>
              <a:rPr lang="en-IN" altLang="en-US" sz="1800" b="1" i="0" u="none" strike="noStrike" cap="none" dirty="0">
                <a:solidFill>
                  <a:schemeClr val="accent1"/>
                </a:solidFill>
                <a:latin typeface="Cambria"/>
                <a:ea typeface="Cambria"/>
                <a:cs typeface="Verdana" panose="020B0604030504040204"/>
                <a:sym typeface="Verdana" panose="020B0604030504040204"/>
              </a:rPr>
              <a:t> </a:t>
            </a:r>
            <a:r>
              <a:rPr lang="en-US" sz="1800" b="1" i="0" u="none" strike="noStrike" cap="none" dirty="0">
                <a:solidFill>
                  <a:schemeClr val="accent1"/>
                </a:solidFill>
                <a:latin typeface="Cambria"/>
                <a:ea typeface="Cambria"/>
                <a:cs typeface="Verdana" panose="020B0604030504040204"/>
                <a:sym typeface="Verdana" panose="020B0604030504040204"/>
              </a:rPr>
              <a:t>: </a:t>
            </a:r>
            <a:r>
              <a:rPr lang="en-IN" altLang="en-US" sz="1800" b="1" i="0" u="none" strike="noStrike" cap="none" dirty="0">
                <a:solidFill>
                  <a:schemeClr val="accent1"/>
                </a:solidFill>
                <a:latin typeface="Cambria"/>
                <a:ea typeface="Cambria"/>
                <a:cs typeface="Verdana" panose="020B0604030504040204"/>
                <a:sym typeface="Verdana" panose="020B0604030504040204"/>
              </a:rPr>
              <a:t>Dr. </a:t>
            </a:r>
            <a:r>
              <a:rPr lang="en-IN" altLang="en-US" sz="1800" b="1" dirty="0">
                <a:solidFill>
                  <a:schemeClr val="accent1"/>
                </a:solidFill>
                <a:latin typeface="Cambria"/>
                <a:ea typeface="Cambria"/>
                <a:cs typeface="Verdana" panose="020B0604030504040204"/>
                <a:sym typeface="Verdana" panose="020B0604030504040204"/>
              </a:rPr>
              <a:t>Muthuraj</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a:ea typeface="Cambria"/>
                <a:cs typeface="Verdana" panose="020B0604030504040204"/>
                <a:sym typeface="Verdana" panose="020B0604030504040204"/>
              </a:rPr>
              <a:t>Name of the School Project Coordinators</a:t>
            </a:r>
            <a:r>
              <a:rPr lang="en-IN" altLang="en-US" sz="1800" b="1" dirty="0">
                <a:solidFill>
                  <a:schemeClr val="accent1"/>
                </a:solidFill>
                <a:latin typeface="Cambria"/>
                <a:ea typeface="Cambria"/>
                <a:cs typeface="Verdana" panose="020B0604030504040204"/>
                <a:sym typeface="Verdana" panose="020B0604030504040204"/>
              </a:rPr>
              <a:t> </a:t>
            </a:r>
            <a:r>
              <a:rPr lang="en-US" sz="1800" b="1" dirty="0">
                <a:solidFill>
                  <a:schemeClr val="accent1"/>
                </a:solidFill>
                <a:latin typeface="Cambria"/>
                <a:ea typeface="Cambria"/>
                <a:cs typeface="Verdana" panose="020B0604030504040204"/>
                <a:sym typeface="Verdana" panose="020B0604030504040204"/>
              </a:rPr>
              <a:t>: </a:t>
            </a:r>
            <a:r>
              <a:rPr lang="en-US" sz="1800" b="1" i="0" u="none" strike="noStrike" cap="none" dirty="0">
                <a:solidFill>
                  <a:schemeClr val="accent1"/>
                </a:solidFill>
                <a:latin typeface="Cambria"/>
                <a:ea typeface="Cambria"/>
                <a:cs typeface="Verdana" panose="020B0604030504040204"/>
                <a:sym typeface="Verdana" panose="020B0604030504040204"/>
              </a:rPr>
              <a:t>Dr. Sampath A K , Dr. Geetha A </a:t>
            </a:r>
            <a:endParaRPr sz="1800" b="1" i="0" u="none" strike="noStrike" cap="none" dirty="0">
              <a:solidFill>
                <a:schemeClr val="accent1"/>
              </a:solidFill>
              <a:latin typeface="Cambria"/>
              <a:ea typeface="Cambria"/>
              <a:cs typeface="Verdana" panose="020B0604030504040204"/>
              <a:sym typeface="Verdana" panose="020B0604030504040204"/>
            </a:endParaRPr>
          </a:p>
        </p:txBody>
      </p:sp>
      <p:sp>
        <p:nvSpPr>
          <p:cNvPr id="2" name="TextBox 1">
            <a:extLst>
              <a:ext uri="{FF2B5EF4-FFF2-40B4-BE49-F238E27FC236}">
                <a16:creationId xmlns:a16="http://schemas.microsoft.com/office/drawing/2014/main" id="{5EC2DFBF-C23E-3A0C-8DC2-8A6C6A2C0E9E}"/>
              </a:ext>
            </a:extLst>
          </p:cNvPr>
          <p:cNvSpPr txBox="1"/>
          <p:nvPr/>
        </p:nvSpPr>
        <p:spPr>
          <a:xfrm>
            <a:off x="6612751" y="3020138"/>
            <a:ext cx="4991719" cy="16135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700" b="1" dirty="0">
                <a:solidFill>
                  <a:schemeClr val="tx1"/>
                </a:solidFill>
              </a:rPr>
              <a:t>Ms. Saiqa Khan N</a:t>
            </a:r>
            <a:endParaRPr lang="en-US">
              <a:solidFill>
                <a:schemeClr val="tx1"/>
              </a:solidFill>
            </a:endParaRPr>
          </a:p>
          <a:p>
            <a:pPr>
              <a:lnSpc>
                <a:spcPct val="150000"/>
              </a:lnSpc>
            </a:pPr>
            <a:r>
              <a:rPr lang="en-US" sz="1700" b="1" dirty="0">
                <a:solidFill>
                  <a:schemeClr val="tx1"/>
                </a:solidFill>
              </a:rPr>
              <a:t>Assistant Professor</a:t>
            </a:r>
          </a:p>
          <a:p>
            <a:pPr>
              <a:lnSpc>
                <a:spcPct val="150000"/>
              </a:lnSpc>
            </a:pPr>
            <a:r>
              <a:rPr lang="en-US" sz="1700" b="1" dirty="0">
                <a:solidFill>
                  <a:schemeClr val="tx1"/>
                </a:solidFill>
              </a:rPr>
              <a:t>School of Computer Science Engineering</a:t>
            </a:r>
          </a:p>
          <a:p>
            <a:pPr>
              <a:lnSpc>
                <a:spcPct val="150000"/>
              </a:lnSpc>
            </a:pPr>
            <a:r>
              <a:rPr lang="en-US" sz="1700" b="1" dirty="0">
                <a:solidFill>
                  <a:schemeClr val="tx1"/>
                </a:solidFill>
              </a:rPr>
              <a:t>Presidency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0"/>
            <a:ext cx="10668000" cy="4615815"/>
          </a:xfrm>
          <a:prstGeom prst="rect">
            <a:avLst/>
          </a:prstGeom>
          <a:noFill/>
          <a:ln>
            <a:noFill/>
          </a:ln>
        </p:spPr>
        <p:txBody>
          <a:bodyPr spcFirstLastPara="1" wrap="square" lIns="91425" tIns="45700" rIns="91425" bIns="45700" anchor="t" anchorCtr="0">
            <a:normAutofit fontScale="97500"/>
          </a:bodyPr>
          <a:lstStyle/>
          <a:p>
            <a:pPr marL="342900" indent="-190500">
              <a:spcBef>
                <a:spcPts val="0"/>
              </a:spcBef>
              <a:buNone/>
            </a:pPr>
            <a:r>
              <a:rPr lang="en-US" dirty="0"/>
              <a:t>  Early detection of dementia is challenging due to subtle symptoms, time-consuming clinical tests, and lack of accessible diagnostic tools. Traditional diagnosis relies heavily on expert evaluation, which is costly and not scalable. There is a need for an intelligent, automated, and reliable system that can assist in early-stage dementia screening using AI techniques.</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a:spcBef>
                <a:spcPts val="0"/>
              </a:spcBef>
              <a:spcAft>
                <a:spcPts val="0"/>
              </a:spcAft>
              <a:buNone/>
            </a:pPr>
            <a:r>
              <a:rPr lang="en-GB" dirty="0">
                <a:latin typeface="Cambria"/>
                <a:ea typeface="Cambria"/>
              </a:rPr>
              <a:t>Content</a:t>
            </a:r>
            <a:endParaRPr lang="en-US" dirty="0"/>
          </a:p>
        </p:txBody>
      </p:sp>
      <p:sp>
        <p:nvSpPr>
          <p:cNvPr id="97" name="Google Shape;97;p14"/>
          <p:cNvSpPr txBox="1">
            <a:spLocks noGrp="1"/>
          </p:cNvSpPr>
          <p:nvPr>
            <p:ph type="body" idx="1"/>
          </p:nvPr>
        </p:nvSpPr>
        <p:spPr>
          <a:xfrm>
            <a:off x="655955" y="935990"/>
            <a:ext cx="10668000" cy="5345430"/>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r>
              <a:rPr lang="en-IN" altLang="en-US" sz="2000" dirty="0">
                <a:latin typeface="Cambria"/>
                <a:ea typeface="Cambria"/>
              </a:rPr>
              <a:t>Abstract</a:t>
            </a:r>
            <a:endParaRPr lang="en-US" sz="2000" dirty="0">
              <a:latin typeface="Cambria"/>
              <a:ea typeface="Cambria"/>
            </a:endParaRPr>
          </a:p>
          <a:p>
            <a:pPr marL="495300" indent="-342900" algn="just">
              <a:lnSpc>
                <a:spcPct val="200000"/>
              </a:lnSpc>
              <a:spcBef>
                <a:spcPts val="0"/>
              </a:spcBef>
              <a:buFont typeface="Arial" panose="020B0604020202020204" pitchFamily="34" charset="0"/>
              <a:buChar char="•"/>
            </a:pPr>
            <a:r>
              <a:rPr lang="en-IN" altLang="en-US" sz="2000" dirty="0">
                <a:latin typeface="Cambria"/>
                <a:ea typeface="Cambria"/>
              </a:rPr>
              <a:t>Literature Survey</a:t>
            </a:r>
            <a:endParaRPr lang="en-US" sz="2000" dirty="0">
              <a:latin typeface="Cambria"/>
              <a:ea typeface="Cambria"/>
            </a:endParaRPr>
          </a:p>
          <a:p>
            <a:pPr marL="495300" lvl="0" indent="-342900" algn="just">
              <a:lnSpc>
                <a:spcPct val="200000"/>
              </a:lnSpc>
              <a:spcBef>
                <a:spcPts val="0"/>
              </a:spcBef>
              <a:buFont typeface="Arial" panose="020B0604020202020204" pitchFamily="34" charset="0"/>
              <a:buChar char="•"/>
            </a:pPr>
            <a:r>
              <a:rPr lang="en-IN" altLang="en-US" sz="2000" dirty="0">
                <a:latin typeface="Cambria"/>
                <a:ea typeface="Cambria"/>
              </a:rPr>
              <a:t>Objectives</a:t>
            </a:r>
            <a:endParaRPr lang="en-US" sz="2000" dirty="0">
              <a:latin typeface="Cambria"/>
              <a:ea typeface="Cambria"/>
            </a:endParaRPr>
          </a:p>
          <a:p>
            <a:pPr marL="495300" indent="-342900" algn="just">
              <a:lnSpc>
                <a:spcPct val="200000"/>
              </a:lnSpc>
              <a:spcBef>
                <a:spcPts val="0"/>
              </a:spcBef>
              <a:buFont typeface="Arial" panose="020B0604020202020204" pitchFamily="34" charset="0"/>
              <a:buChar char="•"/>
            </a:pPr>
            <a:r>
              <a:rPr lang="en-IN" altLang="en-US" sz="2000" dirty="0">
                <a:latin typeface="Cambria"/>
                <a:ea typeface="Cambria"/>
              </a:rPr>
              <a:t>Existing Methods and Drawbacks</a:t>
            </a:r>
          </a:p>
          <a:p>
            <a:pPr marL="495300" indent="-342900" algn="just">
              <a:lnSpc>
                <a:spcPct val="200000"/>
              </a:lnSpc>
              <a:spcBef>
                <a:spcPts val="0"/>
              </a:spcBef>
              <a:buFont typeface="Arial" panose="020B0604020202020204" pitchFamily="34" charset="0"/>
              <a:buChar char="•"/>
            </a:pPr>
            <a:r>
              <a:rPr lang="en-IN" altLang="en-US" sz="2000" dirty="0">
                <a:latin typeface="Cambria"/>
                <a:ea typeface="Cambria"/>
              </a:rPr>
              <a:t>Proposed Method and Feasibility Study</a:t>
            </a:r>
          </a:p>
          <a:p>
            <a:pPr marL="495300" indent="-342900" algn="just">
              <a:lnSpc>
                <a:spcPct val="200000"/>
              </a:lnSpc>
              <a:spcBef>
                <a:spcPts val="0"/>
              </a:spcBef>
              <a:buFont typeface="Arial" panose="020B0604020202020204" pitchFamily="34" charset="0"/>
              <a:buChar char="•"/>
            </a:pPr>
            <a:r>
              <a:rPr lang="en-IN" altLang="en-US" sz="2000" dirty="0">
                <a:latin typeface="Cambria"/>
                <a:ea typeface="Cambria"/>
              </a:rPr>
              <a:t>Architecture Diagram</a:t>
            </a:r>
          </a:p>
          <a:p>
            <a:pPr marL="495300" indent="-342900" algn="just">
              <a:lnSpc>
                <a:spcPct val="200000"/>
              </a:lnSpc>
              <a:spcBef>
                <a:spcPts val="0"/>
              </a:spcBef>
              <a:buFont typeface="Arial" panose="020B0604020202020204" pitchFamily="34" charset="0"/>
              <a:buChar char="•"/>
            </a:pPr>
            <a:r>
              <a:rPr lang="en-IN" altLang="en-US" sz="2000" dirty="0">
                <a:latin typeface="Cambria"/>
                <a:ea typeface="Cambria"/>
              </a:rPr>
              <a:t>Modules Description</a:t>
            </a:r>
            <a:endParaRPr lang="en-IN" altLang="en-US" sz="2000" dirty="0">
              <a:latin typeface="Cambria" panose="02040503050406030204" pitchFamily="18" charset="0"/>
              <a:ea typeface="Cambria" panose="02040503050406030204" pitchFamily="18" charset="0"/>
            </a:endParaRPr>
          </a:p>
          <a:p>
            <a:pPr marL="152400" indent="0" algn="just">
              <a:lnSpc>
                <a:spcPct val="200000"/>
              </a:lnSpc>
              <a:spcBef>
                <a:spcPts val="0"/>
              </a:spcBef>
              <a:buNone/>
            </a:pPr>
            <a:endParaRPr lang="en-US" sz="2000" dirty="0">
              <a:latin typeface="Cambria" panose="02040503050406030204" pitchFamily="18" charset="0"/>
              <a:ea typeface="Cambria" panose="02040503050406030204" pitchFamily="18" charset="0"/>
            </a:endParaRPr>
          </a:p>
          <a:p>
            <a:pPr marL="152400" lvl="0" indent="0" algn="just" rtl="0">
              <a:lnSpc>
                <a:spcPct val="200000"/>
              </a:lnSpc>
              <a:spcBef>
                <a:spcPts val="0"/>
              </a:spcBef>
              <a:spcAft>
                <a:spcPts val="0"/>
              </a:spcAft>
              <a:buClr>
                <a:schemeClr val="dk1"/>
              </a:buClr>
              <a:buSzPts val="2400"/>
              <a:buFont typeface="Wingdings" panose="05000000000000000000" pitchFamily="2" charset="2"/>
              <a:buNone/>
            </a:pPr>
            <a:endParaRPr 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C2319-0C6B-DF18-2870-A3B038A67990}"/>
              </a:ext>
            </a:extLst>
          </p:cNvPr>
          <p:cNvSpPr>
            <a:spLocks noGrp="1"/>
          </p:cNvSpPr>
          <p:nvPr>
            <p:ph type="title"/>
          </p:nvPr>
        </p:nvSpPr>
        <p:spPr/>
        <p:txBody>
          <a:bodyPr/>
          <a:lstStyle/>
          <a:p>
            <a:r>
              <a:rPr lang="en-US" dirty="0"/>
              <a:t>Content</a:t>
            </a:r>
          </a:p>
        </p:txBody>
      </p:sp>
      <p:sp>
        <p:nvSpPr>
          <p:cNvPr id="3" name="Text Placeholder 2">
            <a:extLst>
              <a:ext uri="{FF2B5EF4-FFF2-40B4-BE49-F238E27FC236}">
                <a16:creationId xmlns:a16="http://schemas.microsoft.com/office/drawing/2014/main" id="{6ACF7B43-2347-4D29-9053-68B246B6F6BC}"/>
              </a:ext>
            </a:extLst>
          </p:cNvPr>
          <p:cNvSpPr>
            <a:spLocks noGrp="1"/>
          </p:cNvSpPr>
          <p:nvPr>
            <p:ph type="body" idx="1"/>
          </p:nvPr>
        </p:nvSpPr>
        <p:spPr/>
        <p:txBody>
          <a:bodyPr/>
          <a:lstStyle/>
          <a:p>
            <a:pPr marL="495300" indent="-342900" algn="just">
              <a:lnSpc>
                <a:spcPct val="200000"/>
              </a:lnSpc>
              <a:spcBef>
                <a:spcPts val="0"/>
              </a:spcBef>
              <a:buFont typeface="Arial,Sans-Serif" panose="020B0604020202020204"/>
            </a:pPr>
            <a:r>
              <a:rPr lang="en-IN" sz="2000" dirty="0">
                <a:latin typeface="Cambria"/>
                <a:ea typeface="Cambria"/>
              </a:rPr>
              <a:t>Hardware and Software Details</a:t>
            </a:r>
            <a:endParaRPr lang="en-US" sz="2000" dirty="0">
              <a:latin typeface="Cambria"/>
              <a:ea typeface="Cambria"/>
            </a:endParaRPr>
          </a:p>
          <a:p>
            <a:pPr marL="495300" indent="-342900" algn="just">
              <a:lnSpc>
                <a:spcPct val="200000"/>
              </a:lnSpc>
              <a:spcBef>
                <a:spcPts val="0"/>
              </a:spcBef>
              <a:buFont typeface="Arial,Sans-Serif" panose="020B0604020202020204"/>
            </a:pPr>
            <a:r>
              <a:rPr lang="en-IN" sz="2000" err="1">
                <a:latin typeface="Cambria"/>
                <a:ea typeface="Cambria"/>
              </a:rPr>
              <a:t>Github</a:t>
            </a:r>
            <a:endParaRPr lang="en-IN" sz="2000" dirty="0" err="1">
              <a:latin typeface="Cambria"/>
              <a:ea typeface="Cambria"/>
            </a:endParaRPr>
          </a:p>
          <a:p>
            <a:pPr marL="495300" indent="-342900" algn="just">
              <a:lnSpc>
                <a:spcPct val="200000"/>
              </a:lnSpc>
              <a:spcBef>
                <a:spcPts val="0"/>
              </a:spcBef>
              <a:buFont typeface="Arial,Sans-Serif" panose="020B0604020202020204"/>
            </a:pPr>
            <a:r>
              <a:rPr lang="en-IN" sz="2000" dirty="0">
                <a:latin typeface="Cambria"/>
                <a:ea typeface="Cambria"/>
              </a:rPr>
              <a:t>Timeline (GANTT CHART)</a:t>
            </a:r>
            <a:endParaRPr lang="en-US" sz="2000" dirty="0">
              <a:latin typeface="Cambria"/>
              <a:ea typeface="Cambria"/>
            </a:endParaRPr>
          </a:p>
          <a:p>
            <a:pPr marL="495300" indent="-342900" algn="just">
              <a:lnSpc>
                <a:spcPct val="200000"/>
              </a:lnSpc>
              <a:spcBef>
                <a:spcPts val="0"/>
              </a:spcBef>
              <a:buFont typeface="Arial,Sans-Serif" panose="020B0604020202020204"/>
            </a:pPr>
            <a:r>
              <a:rPr lang="en-IN" sz="2000" dirty="0">
                <a:latin typeface="Cambria"/>
                <a:ea typeface="Cambria"/>
              </a:rPr>
              <a:t>Future Enhancement</a:t>
            </a:r>
            <a:endParaRPr lang="en-US" sz="2000" dirty="0">
              <a:latin typeface="Cambria"/>
              <a:ea typeface="Cambria"/>
            </a:endParaRPr>
          </a:p>
          <a:p>
            <a:pPr marL="495300" indent="-342900" algn="just">
              <a:lnSpc>
                <a:spcPct val="200000"/>
              </a:lnSpc>
              <a:spcBef>
                <a:spcPts val="0"/>
              </a:spcBef>
              <a:buFont typeface="Arial,Sans-Serif" panose="020B0604020202020204"/>
            </a:pPr>
            <a:r>
              <a:rPr lang="en-IN" sz="2000" dirty="0">
                <a:latin typeface="Cambria"/>
                <a:ea typeface="Cambria"/>
              </a:rPr>
              <a:t>Conclusion</a:t>
            </a:r>
            <a:endParaRPr lang="en-US" sz="2000" dirty="0">
              <a:latin typeface="Cambria"/>
              <a:ea typeface="Cambria"/>
            </a:endParaRPr>
          </a:p>
          <a:p>
            <a:pPr marL="495300" indent="-342900" algn="just">
              <a:lnSpc>
                <a:spcPct val="200000"/>
              </a:lnSpc>
              <a:spcBef>
                <a:spcPts val="0"/>
              </a:spcBef>
              <a:buFont typeface="Arial,Sans-Serif" panose="020B0604020202020204"/>
            </a:pPr>
            <a:r>
              <a:rPr lang="en-IN" sz="2000" dirty="0">
                <a:latin typeface="Cambria"/>
                <a:ea typeface="Cambria"/>
              </a:rPr>
              <a:t>References</a:t>
            </a:r>
            <a:endParaRPr lang="en-US" sz="2000" dirty="0">
              <a:latin typeface="Cambria"/>
              <a:ea typeface="Cambria"/>
            </a:endParaRPr>
          </a:p>
          <a:p>
            <a:endParaRPr lang="en-US" dirty="0"/>
          </a:p>
        </p:txBody>
      </p:sp>
    </p:spTree>
    <p:extLst>
      <p:ext uri="{BB962C8B-B14F-4D97-AF65-F5344CB8AC3E}">
        <p14:creationId xmlns:p14="http://schemas.microsoft.com/office/powerpoint/2010/main" val="3474023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Abstract</a:t>
            </a:r>
          </a:p>
        </p:txBody>
      </p:sp>
      <p:sp>
        <p:nvSpPr>
          <p:cNvPr id="3" name="Text Placeholder 2"/>
          <p:cNvSpPr>
            <a:spLocks noGrp="1"/>
          </p:cNvSpPr>
          <p:nvPr>
            <p:ph type="body" idx="1"/>
          </p:nvPr>
        </p:nvSpPr>
        <p:spPr/>
        <p:txBody>
          <a:bodyPr>
            <a:normAutofit/>
          </a:bodyPr>
          <a:lstStyle/>
          <a:p>
            <a:pPr marL="76200" indent="0">
              <a:buNone/>
            </a:pPr>
            <a:r>
              <a:rPr lang="en-US" sz="2000" dirty="0"/>
              <a:t>Dimensional AI is an AI-driven system designed to assist in the early detection of dementia using multi-dimensional data such as speech patterns, cognitive test scores, and behavioral indicators. The system leverages machine learning models to identify subtle cognitive decline that is often missed in early clinical diagnosis. By providing quick, non-invasive, and scalable screening support, Dimensional AI aims to help clinicians, caregivers, and patients take early preventive actions. The proposed system focuses on accuracy, accessibility, and real-time analysis to improve diagnostic support and long-term patient outcomes.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Literature Survey</a:t>
            </a:r>
          </a:p>
        </p:txBody>
      </p:sp>
      <p:sp>
        <p:nvSpPr>
          <p:cNvPr id="3" name="Text Placeholder 2"/>
          <p:cNvSpPr>
            <a:spLocks noGrp="1"/>
          </p:cNvSpPr>
          <p:nvPr>
            <p:ph type="body" idx="1"/>
          </p:nvPr>
        </p:nvSpPr>
        <p:spPr>
          <a:xfrm>
            <a:off x="812800" y="1066800"/>
            <a:ext cx="10668000" cy="5105400"/>
          </a:xfrm>
        </p:spPr>
        <p:txBody>
          <a:bodyPr>
            <a:normAutofit fontScale="82500" lnSpcReduction="10000"/>
          </a:bodyPr>
          <a:lstStyle/>
          <a:p>
            <a:pPr>
              <a:buNone/>
            </a:pPr>
            <a:r>
              <a:rPr lang="en-US" dirty="0"/>
              <a:t>[1] </a:t>
            </a:r>
            <a:r>
              <a:rPr lang="en-US" b="1" dirty="0"/>
              <a:t>A. Vasquez et al., “Early detection of dementia using machine learning techniques,” 2023</a:t>
            </a:r>
            <a:r>
              <a:rPr lang="en-US" dirty="0"/>
              <a:t> – Reviews how ML models analyze cognitive and behavioral data to identify early-stage dementia, highlighting improved diagnostic accuracy compared to traditional methods.</a:t>
            </a:r>
          </a:p>
          <a:p>
            <a:pPr>
              <a:buNone/>
            </a:pPr>
            <a:r>
              <a:rPr lang="en-US" dirty="0"/>
              <a:t>[2] </a:t>
            </a:r>
            <a:r>
              <a:rPr lang="en-US" b="1" dirty="0"/>
              <a:t>J. Fraser et al., “Speech-based biomarkers for Alzheimer’s disease detection,” 2024</a:t>
            </a:r>
            <a:r>
              <a:rPr lang="en-US" dirty="0"/>
              <a:t> – Explores the use of speech patterns such as pauses, pitch variation, and fluency as reliable indicators for detecting cognitive decline using AI models.</a:t>
            </a:r>
          </a:p>
          <a:p>
            <a:pPr>
              <a:buNone/>
            </a:pPr>
            <a:r>
              <a:rPr lang="en-US" dirty="0"/>
              <a:t>[3] </a:t>
            </a:r>
            <a:r>
              <a:rPr lang="en-US" b="1" dirty="0"/>
              <a:t>M. Liu and K. Patel, “Deep learning approaches for neurodegenerative disease diagnosis,” 2025</a:t>
            </a:r>
            <a:r>
              <a:rPr lang="en-US" dirty="0"/>
              <a:t> – Empirical study demonstrating how deep learning models outperform classical algorithms in identifying dementia from multi-dimensional medical datasets.</a:t>
            </a:r>
          </a:p>
          <a:p>
            <a:pPr>
              <a:buNone/>
            </a:pPr>
            <a:r>
              <a:rPr lang="en-US" dirty="0"/>
              <a:t>[4] </a:t>
            </a:r>
            <a:r>
              <a:rPr lang="en-US" b="1" dirty="0"/>
              <a:t>S. R. Kumar et al., “Artificial intelligence in early dementia screening: Challenges and opportunities,” 2024</a:t>
            </a:r>
            <a:r>
              <a:rPr lang="en-US" dirty="0"/>
              <a:t> – Reviews AI adoption in healthcare screening systems, emphasizing scalability, non-invasive diagnosis, and ethical considerations.</a:t>
            </a:r>
          </a:p>
          <a:p>
            <a:pPr marL="76200" indent="0">
              <a:buNone/>
            </a:pP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Literature Survey</a:t>
            </a:r>
          </a:p>
        </p:txBody>
      </p:sp>
      <p:sp>
        <p:nvSpPr>
          <p:cNvPr id="3" name="Text Placeholder 2"/>
          <p:cNvSpPr>
            <a:spLocks noGrp="1"/>
          </p:cNvSpPr>
          <p:nvPr>
            <p:ph type="body" idx="1"/>
          </p:nvPr>
        </p:nvSpPr>
        <p:spPr/>
        <p:txBody>
          <a:bodyPr>
            <a:normAutofit fontScale="82500" lnSpcReduction="10000"/>
          </a:bodyPr>
          <a:lstStyle/>
          <a:p>
            <a:pPr>
              <a:buNone/>
            </a:pPr>
            <a:r>
              <a:rPr lang="en-IN" dirty="0"/>
              <a:t>[5] </a:t>
            </a:r>
            <a:r>
              <a:rPr lang="en-IN" b="1" dirty="0"/>
              <a:t>R. A. Khan and S. Verma, “Machine learning approaches for early dementia diagnosis: A systematic review,” 2024</a:t>
            </a:r>
            <a:r>
              <a:rPr lang="en-IN" dirty="0"/>
              <a:t> – Summarizes various ML techniques used for dementia detection, showing how feature selection and classification models improve early diagnosis accuracy.</a:t>
            </a:r>
            <a:endParaRPr lang="en-US" dirty="0"/>
          </a:p>
          <a:p>
            <a:pPr>
              <a:buNone/>
            </a:pPr>
            <a:r>
              <a:rPr lang="en-IN" dirty="0"/>
              <a:t>[6] </a:t>
            </a:r>
            <a:r>
              <a:rPr lang="en-IN" b="1" dirty="0"/>
              <a:t>L. Hernández et al., “Speech and language processing for cognitive impairment detection,” 2023</a:t>
            </a:r>
            <a:r>
              <a:rPr lang="en-IN" dirty="0"/>
              <a:t> – Reviews how natural language processing and speech analysis are used to identify linguistic markers associated with dementia and mild cognitive impairment.</a:t>
            </a:r>
          </a:p>
          <a:p>
            <a:pPr>
              <a:buNone/>
            </a:pPr>
            <a:r>
              <a:rPr lang="en-IN" dirty="0"/>
              <a:t>[7] </a:t>
            </a:r>
            <a:r>
              <a:rPr lang="en-IN" b="1" dirty="0"/>
              <a:t>S. Sharma and P. Gupta, “AI-based healthcare decision support systems for neurodegenerative diseases,” 2025</a:t>
            </a:r>
            <a:r>
              <a:rPr lang="en-IN" dirty="0"/>
              <a:t> – </a:t>
            </a:r>
            <a:r>
              <a:rPr lang="en-IN" dirty="0" err="1"/>
              <a:t>Analyzes</a:t>
            </a:r>
            <a:r>
              <a:rPr lang="en-IN" dirty="0"/>
              <a:t> the role of AI-driven decision support systems in assisting clinicians, highlighting improved reliability, speed, and scalability in dementia screening.</a:t>
            </a:r>
          </a:p>
          <a:p>
            <a:pPr>
              <a:buNone/>
            </a:pPr>
            <a:r>
              <a:rPr lang="en-IN" dirty="0"/>
              <a:t>[8] </a:t>
            </a:r>
            <a:r>
              <a:rPr lang="en-IN" b="1" dirty="0"/>
              <a:t>World Health Organization (WHO), “Dementia: A public health priority,” 2023</a:t>
            </a:r>
            <a:r>
              <a:rPr lang="en-IN" dirty="0"/>
              <a:t> – Reports on the global impact of dementia and emphasizes the need for early detection tools and technology-driven interventions to reduce disease progression and healthcare burden.</a:t>
            </a:r>
          </a:p>
          <a:p>
            <a:pPr marL="76200" indent="0">
              <a:buNone/>
            </a:pPr>
            <a:endParaRPr lang="en-I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Literature Survey</a:t>
            </a:r>
          </a:p>
        </p:txBody>
      </p:sp>
      <p:sp>
        <p:nvSpPr>
          <p:cNvPr id="3" name="Text Placeholder 2"/>
          <p:cNvSpPr>
            <a:spLocks noGrp="1"/>
          </p:cNvSpPr>
          <p:nvPr>
            <p:ph type="body" idx="1"/>
          </p:nvPr>
        </p:nvSpPr>
        <p:spPr/>
        <p:txBody>
          <a:bodyPr/>
          <a:lstStyle/>
          <a:p>
            <a:pPr marL="76200" indent="0">
              <a:buNone/>
            </a:pPr>
            <a:r>
              <a:rPr lang="en-US" altLang="en-US" sz="2000" dirty="0"/>
              <a:t>[9] </a:t>
            </a:r>
            <a:r>
              <a:rPr lang="en-US" altLang="en-US" sz="2000" b="1" dirty="0"/>
              <a:t>A. Erdmann and M. Ponzo, “SEO: The long-term strategy of organic keywords,” 2022</a:t>
            </a:r>
            <a:r>
              <a:rPr lang="en-IN" altLang="en-US" sz="2000" dirty="0"/>
              <a:t> - </a:t>
            </a:r>
            <a:r>
              <a:rPr lang="en-US" altLang="en-US" sz="2000" dirty="0"/>
              <a:t>Demonstrates SEO’s compounding benefits through long-term organic keyword strategies</a:t>
            </a:r>
            <a:r>
              <a:rPr lang="en-IN" altLang="en-US" sz="2000" dirty="0"/>
              <a:t>.</a:t>
            </a:r>
          </a:p>
          <a:p>
            <a:pPr marL="76200" indent="0">
              <a:buNone/>
            </a:pPr>
            <a:r>
              <a:rPr lang="en-US" altLang="en-US" sz="2000" dirty="0"/>
              <a:t>[10] </a:t>
            </a:r>
            <a:r>
              <a:rPr lang="en-US" altLang="en-US" sz="2000" b="1" dirty="0"/>
              <a:t>G. A. Athaide and S. Moorman, “Marketing innovations and digital technologies,” 2025</a:t>
            </a:r>
            <a:r>
              <a:rPr lang="en-IN" altLang="en-US" sz="2000" dirty="0"/>
              <a:t> - </a:t>
            </a:r>
            <a:r>
              <a:rPr lang="en-US" altLang="en-US" sz="2000" dirty="0"/>
              <a:t>Conceptual review linking digital innovations with marketing practices, proposing future research agenda.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Objectives</a:t>
            </a:r>
          </a:p>
        </p:txBody>
      </p:sp>
      <p:sp>
        <p:nvSpPr>
          <p:cNvPr id="3" name="Text Placeholder 2"/>
          <p:cNvSpPr>
            <a:spLocks noGrp="1"/>
          </p:cNvSpPr>
          <p:nvPr>
            <p:ph type="body" idx="1"/>
          </p:nvPr>
        </p:nvSpPr>
        <p:spPr>
          <a:xfrm>
            <a:off x="812800" y="1085215"/>
            <a:ext cx="10668000" cy="5229860"/>
          </a:xfrm>
        </p:spPr>
        <p:txBody>
          <a:bodyPr>
            <a:normAutofit fontScale="97500"/>
          </a:bodyPr>
          <a:lstStyle/>
          <a:p>
            <a:r>
              <a:rPr lang="en-IN" sz="2000" dirty="0"/>
              <a:t>Detect early signs of dementia using AI and data-driven analysis</a:t>
            </a:r>
            <a:endParaRPr lang="en-US" altLang="en-US" sz="2000"/>
          </a:p>
          <a:p>
            <a:r>
              <a:rPr lang="en-IN" sz="2000" err="1"/>
              <a:t>Analyze</a:t>
            </a:r>
            <a:r>
              <a:rPr lang="en-IN" sz="2000" dirty="0"/>
              <a:t> speech, cognitive, and </a:t>
            </a:r>
            <a:r>
              <a:rPr lang="en-IN" sz="2000" err="1"/>
              <a:t>behavioral</a:t>
            </a:r>
            <a:r>
              <a:rPr lang="en-IN" sz="2000" dirty="0"/>
              <a:t> features</a:t>
            </a:r>
            <a:endParaRPr lang="en-US" sz="2000"/>
          </a:p>
          <a:p>
            <a:r>
              <a:rPr lang="en-IN" sz="2000" dirty="0"/>
              <a:t>Improve diagnostic accuracy and speed</a:t>
            </a:r>
            <a:endParaRPr lang="en-US" sz="2000"/>
          </a:p>
          <a:p>
            <a:r>
              <a:rPr lang="en-IN" sz="2000" dirty="0"/>
              <a:t>Provide a non-invasive and cost-effective screening tool</a:t>
            </a:r>
            <a:endParaRPr lang="en-US" sz="2000"/>
          </a:p>
          <a:p>
            <a:r>
              <a:rPr lang="en-IN" sz="2000" dirty="0"/>
              <a:t>Support doctors and caregivers with AI-based insights</a:t>
            </a:r>
            <a:endParaRPr lang="en-US" sz="2000"/>
          </a:p>
          <a:p>
            <a:endParaRPr lang="en-IN" alt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altLang="en-US" dirty="0">
                <a:latin typeface="Cambria" panose="02040503050406030204" pitchFamily="18" charset="0"/>
                <a:ea typeface="Cambria" panose="02040503050406030204" pitchFamily="18" charset="0"/>
              </a:rPr>
              <a:t>Existing Methods &amp; Drawbacks</a:t>
            </a:r>
          </a:p>
        </p:txBody>
      </p:sp>
      <p:sp>
        <p:nvSpPr>
          <p:cNvPr id="115" name="Google Shape;115;p17"/>
          <p:cNvSpPr txBox="1">
            <a:spLocks noGrp="1"/>
          </p:cNvSpPr>
          <p:nvPr>
            <p:ph type="body" idx="1"/>
          </p:nvPr>
        </p:nvSpPr>
        <p:spPr>
          <a:xfrm>
            <a:off x="812800" y="1004570"/>
            <a:ext cx="10668000" cy="4986655"/>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IN" altLang="en-US" sz="2000" b="1" dirty="0">
                <a:latin typeface="Cambria"/>
                <a:ea typeface="Cambria"/>
              </a:rPr>
              <a:t>Existing Methods</a:t>
            </a:r>
            <a:r>
              <a:rPr lang="en-US" sz="2000" b="1" dirty="0">
                <a:latin typeface="Cambria"/>
                <a:ea typeface="Cambria"/>
              </a:rPr>
              <a:t>:</a:t>
            </a:r>
          </a:p>
          <a:p>
            <a:pPr marL="342900" lvl="0" indent="-190500" algn="just" rtl="0">
              <a:spcBef>
                <a:spcPts val="0"/>
              </a:spcBef>
              <a:spcAft>
                <a:spcPts val="0"/>
              </a:spcAft>
              <a:buClr>
                <a:schemeClr val="dk1"/>
              </a:buClr>
              <a:buSzPct val="100000"/>
              <a:buNone/>
            </a:pPr>
            <a:endParaRPr lang="en-US" altLang="en-US" sz="2000" dirty="0">
              <a:latin typeface="Cambria" panose="02040503050406030204" pitchFamily="18" charset="0"/>
              <a:ea typeface="Cambria" panose="02040503050406030204" pitchFamily="18" charset="0"/>
            </a:endParaRPr>
          </a:p>
          <a:p>
            <a:pPr algn="just">
              <a:buSzPct val="100000"/>
            </a:pPr>
            <a:r>
              <a:rPr lang="en-IN" sz="2000" dirty="0"/>
              <a:t>Manual cognitive tests</a:t>
            </a:r>
            <a:endParaRPr lang="en-US" altLang="en-US" sz="2000" b="1">
              <a:latin typeface="Cambria" panose="02040503050406030204" pitchFamily="18" charset="0"/>
              <a:ea typeface="Cambria" panose="02040503050406030204" pitchFamily="18" charset="0"/>
            </a:endParaRPr>
          </a:p>
          <a:p>
            <a:pPr algn="just"/>
            <a:r>
              <a:rPr lang="en-IN" sz="2000" dirty="0"/>
              <a:t>Clinical interviews and questionnaires</a:t>
            </a:r>
            <a:endParaRPr lang="en-US" sz="2000"/>
          </a:p>
          <a:p>
            <a:pPr algn="just"/>
            <a:r>
              <a:rPr lang="en-IN" sz="2000" dirty="0"/>
              <a:t>Brain imaging techniques (MRI, CT)</a:t>
            </a:r>
            <a:endParaRPr lang="en-US" sz="2000"/>
          </a:p>
          <a:p>
            <a:pPr algn="just"/>
            <a:r>
              <a:rPr lang="en-IN" sz="2000" dirty="0"/>
              <a:t>Expert-dependent diagnosis</a:t>
            </a:r>
            <a:endParaRPr lang="en-US" sz="2000"/>
          </a:p>
          <a:p>
            <a:pPr marL="342900" lvl="0" indent="-190500" algn="just">
              <a:spcBef>
                <a:spcPts val="0"/>
              </a:spcBef>
              <a:spcAft>
                <a:spcPts val="0"/>
              </a:spcAft>
              <a:buClr>
                <a:schemeClr val="dk1"/>
              </a:buClr>
              <a:buSzPct val="100000"/>
            </a:pPr>
            <a:endParaRPr lang="en-IN" altLang="en-US" sz="2000" b="1"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IN" altLang="en-US" sz="200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altLang="en-US" sz="2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sz="20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sz="2000"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Existing Methods &amp; Drawbacks</a:t>
            </a:r>
          </a:p>
        </p:txBody>
      </p:sp>
      <p:sp>
        <p:nvSpPr>
          <p:cNvPr id="3" name="Text Placeholder 2"/>
          <p:cNvSpPr>
            <a:spLocks noGrp="1"/>
          </p:cNvSpPr>
          <p:nvPr>
            <p:ph type="body" idx="1"/>
          </p:nvPr>
        </p:nvSpPr>
        <p:spPr>
          <a:xfrm>
            <a:off x="812800" y="1016000"/>
            <a:ext cx="10668000" cy="5207000"/>
          </a:xfrm>
        </p:spPr>
        <p:txBody>
          <a:bodyPr/>
          <a:lstStyle/>
          <a:p>
            <a:pPr marL="76200" indent="0">
              <a:buNone/>
            </a:pPr>
            <a:r>
              <a:rPr lang="en-IN" altLang="en-US" sz="2000" b="1" dirty="0">
                <a:latin typeface="Cambria"/>
                <a:cs typeface="Cambria" panose="02040503050406030204" pitchFamily="18" charset="0"/>
              </a:rPr>
              <a:t>Drawbacks and Limitations:</a:t>
            </a:r>
          </a:p>
          <a:p>
            <a:pPr marL="76200" indent="0">
              <a:buNone/>
            </a:pPr>
            <a:endParaRPr lang="en-IN" altLang="en-US" sz="2000" dirty="0">
              <a:latin typeface="Cambria" panose="02040503050406030204" pitchFamily="18" charset="0"/>
              <a:cs typeface="Cambria" panose="02040503050406030204" pitchFamily="18" charset="0"/>
            </a:endParaRPr>
          </a:p>
          <a:p>
            <a:r>
              <a:rPr lang="en-US" sz="2000" dirty="0"/>
              <a:t>Time-consuming diagnosis</a:t>
            </a:r>
          </a:p>
          <a:p>
            <a:r>
              <a:rPr lang="en-US" sz="2000" dirty="0">
                <a:cs typeface="Cambria" panose="02040503050406030204" pitchFamily="18" charset="0"/>
              </a:rPr>
              <a:t>High dependency on specialists</a:t>
            </a:r>
            <a:endParaRPr lang="en-US" sz="2000" dirty="0"/>
          </a:p>
          <a:p>
            <a:r>
              <a:rPr lang="en-US" sz="2000" dirty="0"/>
              <a:t>Expensive medical tests</a:t>
            </a:r>
          </a:p>
          <a:p>
            <a:r>
              <a:rPr lang="en-US" sz="2000" dirty="0"/>
              <a:t>Late detection in many cases</a:t>
            </a:r>
          </a:p>
          <a:p>
            <a:r>
              <a:rPr lang="en-US" sz="2000" dirty="0"/>
              <a:t>Not scalable for large populations</a:t>
            </a:r>
          </a:p>
          <a:p>
            <a:endParaRPr lang="en-US" altLang="en-US" sz="2000" dirty="0">
              <a:latin typeface="Cambria" panose="02040503050406030204" pitchFamily="18" charset="0"/>
              <a:cs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Proposed Method &amp; Feasibility Study</a:t>
            </a:r>
          </a:p>
        </p:txBody>
      </p:sp>
      <p:sp>
        <p:nvSpPr>
          <p:cNvPr id="3" name="Text Placeholder 2"/>
          <p:cNvSpPr>
            <a:spLocks noGrp="1"/>
          </p:cNvSpPr>
          <p:nvPr>
            <p:ph type="body" idx="1"/>
          </p:nvPr>
        </p:nvSpPr>
        <p:spPr/>
        <p:txBody>
          <a:bodyPr>
            <a:normAutofit/>
          </a:bodyPr>
          <a:lstStyle/>
          <a:p>
            <a:pPr>
              <a:buNone/>
            </a:pPr>
            <a:r>
              <a:rPr lang="en-IN" sz="2000" dirty="0"/>
              <a:t>    Dimensional AI uses machine learning models to </a:t>
            </a:r>
            <a:r>
              <a:rPr lang="en-IN" sz="2000" dirty="0" err="1"/>
              <a:t>analyze</a:t>
            </a:r>
            <a:r>
              <a:rPr lang="en-IN" sz="2000" dirty="0"/>
              <a:t> speech features, cognitive assessment data, and </a:t>
            </a:r>
            <a:r>
              <a:rPr lang="en-IN" sz="2000" dirty="0" err="1"/>
              <a:t>behavioral</a:t>
            </a:r>
            <a:r>
              <a:rPr lang="en-IN" sz="2000" dirty="0"/>
              <a:t> patterns. The system processes input data, extracts relevant features, and predicts dementia risk levels. Results are presented through a simple dashboard for medical interpretation.</a:t>
            </a:r>
            <a:endParaRPr lang="en-US"/>
          </a:p>
          <a:p>
            <a:pPr marL="76200" indent="0">
              <a:buNone/>
            </a:pPr>
            <a:endParaRPr lang="en-IN" altLang="en-US" sz="20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Architectural Diagram</a:t>
            </a:r>
          </a:p>
        </p:txBody>
      </p:sp>
      <p:sp>
        <p:nvSpPr>
          <p:cNvPr id="3" name="Text Placeholder 2"/>
          <p:cNvSpPr>
            <a:spLocks noGrp="1"/>
          </p:cNvSpPr>
          <p:nvPr>
            <p:ph type="body" idx="1"/>
          </p:nvPr>
        </p:nvSpPr>
        <p:spPr/>
        <p:txBody>
          <a:bodyPr/>
          <a:lstStyle/>
          <a:p>
            <a:pPr marL="76200" indent="0">
              <a:buNone/>
            </a:pPr>
            <a:endParaRPr lang="en-IN" altLang="en-US"/>
          </a:p>
        </p:txBody>
      </p:sp>
      <p:pic>
        <p:nvPicPr>
          <p:cNvPr id="5" name="Picture 4" descr="A diagram of a data processing process&#10;&#10;AI-generated content may be incorrect.">
            <a:extLst>
              <a:ext uri="{FF2B5EF4-FFF2-40B4-BE49-F238E27FC236}">
                <a16:creationId xmlns:a16="http://schemas.microsoft.com/office/drawing/2014/main" id="{9844CEE3-EA9C-4B8B-6628-731C0BD91A55}"/>
              </a:ext>
            </a:extLst>
          </p:cNvPr>
          <p:cNvPicPr>
            <a:picLocks noChangeAspect="1"/>
          </p:cNvPicPr>
          <p:nvPr/>
        </p:nvPicPr>
        <p:blipFill>
          <a:blip r:embed="rId2"/>
          <a:stretch>
            <a:fillRect/>
          </a:stretch>
        </p:blipFill>
        <p:spPr>
          <a:xfrm>
            <a:off x="952500" y="1538377"/>
            <a:ext cx="10287000" cy="455762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Modules Description</a:t>
            </a:r>
            <a:endParaRPr lang="en-US" dirty="0"/>
          </a:p>
        </p:txBody>
      </p:sp>
      <p:sp>
        <p:nvSpPr>
          <p:cNvPr id="3" name="Text Placeholder 2"/>
          <p:cNvSpPr>
            <a:spLocks noGrp="1"/>
          </p:cNvSpPr>
          <p:nvPr>
            <p:ph type="body" idx="1"/>
          </p:nvPr>
        </p:nvSpPr>
        <p:spPr/>
        <p:txBody>
          <a:bodyPr/>
          <a:lstStyle/>
          <a:p>
            <a:r>
              <a:rPr lang="en-IN" sz="2000" b="1" dirty="0"/>
              <a:t>Data Collection Module</a:t>
            </a:r>
            <a:r>
              <a:rPr lang="en-IN" sz="2000" dirty="0"/>
              <a:t> – Collects speech and cognitive data</a:t>
            </a:r>
            <a:endParaRPr lang="en-US" sz="2000"/>
          </a:p>
          <a:p>
            <a:r>
              <a:rPr lang="en-IN" sz="2000" b="1" dirty="0"/>
              <a:t>Preprocessing Module</a:t>
            </a:r>
            <a:r>
              <a:rPr lang="en-IN" sz="2000" dirty="0"/>
              <a:t> – Noise removal and normalization</a:t>
            </a:r>
          </a:p>
          <a:p>
            <a:r>
              <a:rPr lang="en-IN" sz="2000" b="1" dirty="0"/>
              <a:t>Feature Extraction Module</a:t>
            </a:r>
            <a:r>
              <a:rPr lang="en-IN" sz="2000" dirty="0"/>
              <a:t> – Extracts relevant indicators</a:t>
            </a:r>
          </a:p>
          <a:p>
            <a:r>
              <a:rPr lang="en-IN" sz="2000" b="1" dirty="0"/>
              <a:t>ML Model Module</a:t>
            </a:r>
            <a:r>
              <a:rPr lang="en-IN" sz="2000" dirty="0"/>
              <a:t> – Trains and predicts dementia risk</a:t>
            </a:r>
          </a:p>
          <a:p>
            <a:r>
              <a:rPr lang="en-IN" sz="2000" b="1" dirty="0"/>
              <a:t>Prediction Module</a:t>
            </a:r>
            <a:r>
              <a:rPr lang="en-IN" sz="2000" dirty="0"/>
              <a:t> – Outputs classification results</a:t>
            </a:r>
          </a:p>
          <a:p>
            <a:r>
              <a:rPr lang="en-IN" sz="2000" b="1" dirty="0"/>
              <a:t>User Interface Module</a:t>
            </a:r>
            <a:r>
              <a:rPr lang="en-IN" sz="2000" dirty="0"/>
              <a:t> – Displays analysis and results</a:t>
            </a:r>
          </a:p>
          <a:p>
            <a:endParaRPr lang="en-IN" alt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Hardware &amp; Software Details</a:t>
            </a:r>
          </a:p>
        </p:txBody>
      </p:sp>
      <p:sp>
        <p:nvSpPr>
          <p:cNvPr id="3" name="Text Placeholder 2"/>
          <p:cNvSpPr>
            <a:spLocks noGrp="1"/>
          </p:cNvSpPr>
          <p:nvPr>
            <p:ph type="body" idx="1"/>
          </p:nvPr>
        </p:nvSpPr>
        <p:spPr/>
        <p:txBody>
          <a:bodyPr>
            <a:normAutofit fontScale="97500"/>
          </a:bodyPr>
          <a:lstStyle/>
          <a:p>
            <a:pPr>
              <a:buNone/>
            </a:pPr>
            <a:r>
              <a:rPr lang="en-IN" sz="2000" b="1" dirty="0"/>
              <a:t>Hardware:</a:t>
            </a:r>
            <a:endParaRPr lang="en-US" sz="2000"/>
          </a:p>
          <a:p>
            <a:pPr marL="285750" indent="-285750"/>
            <a:r>
              <a:rPr lang="en-IN" sz="2000" dirty="0"/>
              <a:t>Laptop / PC</a:t>
            </a:r>
          </a:p>
          <a:p>
            <a:pPr marL="285750" indent="-285750"/>
            <a:r>
              <a:rPr lang="en-IN" sz="2000" dirty="0"/>
              <a:t>Internet Connection</a:t>
            </a:r>
          </a:p>
          <a:p>
            <a:pPr indent="0">
              <a:buNone/>
            </a:pPr>
            <a:r>
              <a:rPr lang="en-IN" sz="2000" b="1" dirty="0"/>
              <a:t>Software:</a:t>
            </a:r>
            <a:endParaRPr lang="en-IN" sz="2000" dirty="0"/>
          </a:p>
          <a:p>
            <a:pPr marL="285750" indent="-285750"/>
            <a:r>
              <a:rPr lang="en-IN" sz="2000" dirty="0"/>
              <a:t>Python</a:t>
            </a:r>
          </a:p>
          <a:p>
            <a:pPr marL="285750" indent="-285750"/>
            <a:r>
              <a:rPr lang="en-IN" sz="2000" dirty="0"/>
              <a:t>TensorFlow / Scikit-learn</a:t>
            </a:r>
          </a:p>
          <a:p>
            <a:pPr marL="285750" indent="-285750"/>
            <a:r>
              <a:rPr lang="en-IN" sz="2000" dirty="0"/>
              <a:t>Flask / </a:t>
            </a:r>
            <a:r>
              <a:rPr lang="en-IN" sz="2000" err="1"/>
              <a:t>Streamlit</a:t>
            </a:r>
            <a:endParaRPr lang="en-IN" sz="2000"/>
          </a:p>
          <a:p>
            <a:pPr marL="285750" indent="-285750"/>
            <a:r>
              <a:rPr lang="en-IN" sz="2000" err="1"/>
              <a:t>Jupyter</a:t>
            </a:r>
            <a:r>
              <a:rPr lang="en-IN" sz="2000" dirty="0"/>
              <a:t> Notebook</a:t>
            </a:r>
          </a:p>
          <a:p>
            <a:pPr marL="285750" indent="-285750"/>
            <a:r>
              <a:rPr lang="en-IN" sz="2000" dirty="0"/>
              <a:t>Google </a:t>
            </a:r>
            <a:r>
              <a:rPr lang="en-IN" sz="2000" dirty="0" err="1"/>
              <a:t>Colab</a:t>
            </a:r>
            <a:endParaRPr lang="en-US" sz="2000"/>
          </a:p>
          <a:p>
            <a:pPr marL="76200" indent="0">
              <a:buNone/>
            </a:pPr>
            <a:endParaRPr lang="en-IN" altLang="en-US" sz="2000"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a:ea typeface="Cambria"/>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r>
              <a:rPr lang="en-US" sz="2000" dirty="0">
                <a:latin typeface="Cambria"/>
                <a:ea typeface="Cambria"/>
              </a:rPr>
              <a:t>The Github link provided should have public access permission.</a:t>
            </a:r>
          </a:p>
          <a:p>
            <a:pPr marL="342900" indent="-190500" algn="just">
              <a:spcBef>
                <a:spcPts val="0"/>
              </a:spcBef>
              <a:buSzPct val="100000"/>
              <a:buFont typeface="Arial" panose="020B0604020202020204"/>
              <a:buNone/>
            </a:pPr>
            <a:endParaRPr lang="en-US" sz="2000"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r>
              <a:rPr lang="en-US" sz="2000" b="1" dirty="0">
                <a:solidFill>
                  <a:schemeClr val="accent2">
                    <a:lumMod val="75000"/>
                  </a:schemeClr>
                </a:solidFill>
                <a:latin typeface="Cambria"/>
                <a:ea typeface="Cambria"/>
              </a:rPr>
              <a:t>Github Link</a:t>
            </a:r>
            <a:r>
              <a:rPr lang="en-IN" altLang="en-US" sz="2000" b="1" dirty="0">
                <a:solidFill>
                  <a:schemeClr val="accent2">
                    <a:lumMod val="75000"/>
                  </a:schemeClr>
                </a:solidFill>
                <a:latin typeface="Cambria"/>
                <a:ea typeface="Cambria"/>
              </a:rPr>
              <a:t> :</a:t>
            </a:r>
            <a:endParaRPr lang="en-US" sz="2000" b="1" dirty="0">
              <a:solidFill>
                <a:schemeClr val="accent2">
                  <a:lumMod val="75000"/>
                </a:schemeClr>
              </a:solidFill>
              <a:latin typeface="Cambria"/>
              <a:ea typeface="Cambria"/>
            </a:endParaRPr>
          </a:p>
          <a:p>
            <a:pPr marL="342900" indent="-190500" algn="just">
              <a:spcBef>
                <a:spcPts val="0"/>
              </a:spcBef>
              <a:buSzPct val="100000"/>
              <a:buFont typeface="Arial" panose="020B0604020202020204"/>
              <a:buNone/>
            </a:pPr>
            <a:endParaRPr lang="en-US" sz="2000"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None/>
            </a:pPr>
            <a:r>
              <a:rPr lang="en-US" sz="2000" dirty="0">
                <a:solidFill>
                  <a:schemeClr val="accent1"/>
                </a:solidFill>
              </a:rPr>
              <a:t>https://github.com/dexty8147/AI-TOOL-FOR-EARLY-STAGE-DIMENTIA-DETECTION.git</a:t>
            </a:r>
          </a:p>
          <a:p>
            <a:pPr marL="342900" indent="-190500" algn="just">
              <a:spcBef>
                <a:spcPts val="0"/>
              </a:spcBef>
              <a:buSzPct val="100000"/>
              <a:buFont typeface="Arial" panose="020B0604020202020204"/>
              <a:buNone/>
            </a:pPr>
            <a:endParaRPr lang="en-US" sz="200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sz="200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sz="200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 </a:t>
            </a:r>
          </a:p>
        </p:txBody>
      </p:sp>
      <p:pic>
        <p:nvPicPr>
          <p:cNvPr id="2" name="Picture 1" descr="A graph with different colored bars&#10;&#10;AI-generated content may be incorrect.">
            <a:extLst>
              <a:ext uri="{FF2B5EF4-FFF2-40B4-BE49-F238E27FC236}">
                <a16:creationId xmlns:a16="http://schemas.microsoft.com/office/drawing/2014/main" id="{EDCB0823-9914-A63D-14F9-260130B8087A}"/>
              </a:ext>
            </a:extLst>
          </p:cNvPr>
          <p:cNvPicPr>
            <a:picLocks noChangeAspect="1"/>
          </p:cNvPicPr>
          <p:nvPr/>
        </p:nvPicPr>
        <p:blipFill>
          <a:blip r:embed="rId3"/>
          <a:stretch>
            <a:fillRect/>
          </a:stretch>
        </p:blipFill>
        <p:spPr>
          <a:xfrm>
            <a:off x="6266911" y="1148212"/>
            <a:ext cx="5581650" cy="4705350"/>
          </a:xfrm>
          <a:prstGeom prst="rect">
            <a:avLst/>
          </a:prstGeom>
        </p:spPr>
      </p:pic>
      <p:graphicFrame>
        <p:nvGraphicFramePr>
          <p:cNvPr id="5" name="Table 4">
            <a:extLst>
              <a:ext uri="{FF2B5EF4-FFF2-40B4-BE49-F238E27FC236}">
                <a16:creationId xmlns:a16="http://schemas.microsoft.com/office/drawing/2014/main" id="{90ADADDA-7A5C-9DA0-13DC-4A2E0068251F}"/>
              </a:ext>
            </a:extLst>
          </p:cNvPr>
          <p:cNvGraphicFramePr>
            <a:graphicFrameLocks noGrp="1"/>
          </p:cNvGraphicFramePr>
          <p:nvPr>
            <p:extLst>
              <p:ext uri="{D42A27DB-BD31-4B8C-83A1-F6EECF244321}">
                <p14:modId xmlns:p14="http://schemas.microsoft.com/office/powerpoint/2010/main" val="2356353492"/>
              </p:ext>
            </p:extLst>
          </p:nvPr>
        </p:nvGraphicFramePr>
        <p:xfrm>
          <a:off x="529806" y="1306093"/>
          <a:ext cx="5410200" cy="4619625"/>
        </p:xfrm>
        <a:graphic>
          <a:graphicData uri="http://schemas.openxmlformats.org/drawingml/2006/table">
            <a:tbl>
              <a:tblPr bandRow="1">
                <a:tableStyleId>{5C22544A-7EE6-4342-B048-85BDC9FD1C3A}</a:tableStyleId>
              </a:tblPr>
              <a:tblGrid>
                <a:gridCol w="1352550">
                  <a:extLst>
                    <a:ext uri="{9D8B030D-6E8A-4147-A177-3AD203B41FA5}">
                      <a16:colId xmlns:a16="http://schemas.microsoft.com/office/drawing/2014/main" val="3336250428"/>
                    </a:ext>
                  </a:extLst>
                </a:gridCol>
                <a:gridCol w="1352550">
                  <a:extLst>
                    <a:ext uri="{9D8B030D-6E8A-4147-A177-3AD203B41FA5}">
                      <a16:colId xmlns:a16="http://schemas.microsoft.com/office/drawing/2014/main" val="4221981393"/>
                    </a:ext>
                  </a:extLst>
                </a:gridCol>
                <a:gridCol w="1352550">
                  <a:extLst>
                    <a:ext uri="{9D8B030D-6E8A-4147-A177-3AD203B41FA5}">
                      <a16:colId xmlns:a16="http://schemas.microsoft.com/office/drawing/2014/main" val="2130950018"/>
                    </a:ext>
                  </a:extLst>
                </a:gridCol>
                <a:gridCol w="1352550">
                  <a:extLst>
                    <a:ext uri="{9D8B030D-6E8A-4147-A177-3AD203B41FA5}">
                      <a16:colId xmlns:a16="http://schemas.microsoft.com/office/drawing/2014/main" val="2922697028"/>
                    </a:ext>
                  </a:extLst>
                </a:gridCol>
              </a:tblGrid>
              <a:tr h="685800">
                <a:tc>
                  <a:txBody>
                    <a:bodyPr/>
                    <a:lstStyle/>
                    <a:p>
                      <a:pPr fontAlgn="base">
                        <a:lnSpc>
                          <a:spcPts val="1650"/>
                        </a:lnSpc>
                        <a:buNone/>
                      </a:pPr>
                      <a:r>
                        <a:rPr lang="en-US" sz="1400" b="1">
                          <a:solidFill>
                            <a:srgbClr val="FFFFFF"/>
                          </a:solidFill>
                          <a:effectLst/>
                          <a:latin typeface="Arial" panose="020B0604020202020204" pitchFamily="34" charset="0"/>
                        </a:rPr>
                        <a:t>PHASE</a:t>
                      </a:r>
                      <a:endParaRPr lang="en-US">
                        <a:effectLst/>
                      </a:endParaRPr>
                    </a:p>
                  </a:txBody>
                  <a:tcPr marT="4000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solidFill>
                      <a:srgbClr val="4F81BC"/>
                    </a:solidFill>
                  </a:tcPr>
                </a:tc>
                <a:tc>
                  <a:txBody>
                    <a:bodyPr/>
                    <a:lstStyle/>
                    <a:p>
                      <a:pPr fontAlgn="base">
                        <a:lnSpc>
                          <a:spcPts val="1650"/>
                        </a:lnSpc>
                        <a:buNone/>
                      </a:pPr>
                      <a:r>
                        <a:rPr lang="en-US" sz="1400" b="1">
                          <a:solidFill>
                            <a:srgbClr val="FFFFFF"/>
                          </a:solidFill>
                          <a:effectLst/>
                          <a:latin typeface="Arial" panose="020B0604020202020204" pitchFamily="34" charset="0"/>
                        </a:rPr>
                        <a:t>ACTIVITY</a:t>
                      </a:r>
                      <a:endParaRPr lang="en-US">
                        <a:effectLst/>
                      </a:endParaRPr>
                    </a:p>
                  </a:txBody>
                  <a:tcPr marT="4000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solidFill>
                      <a:srgbClr val="4F81BC"/>
                    </a:solidFill>
                  </a:tcPr>
                </a:tc>
                <a:tc>
                  <a:txBody>
                    <a:bodyPr/>
                    <a:lstStyle/>
                    <a:p>
                      <a:pPr fontAlgn="base">
                        <a:lnSpc>
                          <a:spcPts val="1650"/>
                        </a:lnSpc>
                        <a:buNone/>
                      </a:pPr>
                      <a:r>
                        <a:rPr lang="en-US" sz="1400" b="1">
                          <a:solidFill>
                            <a:srgbClr val="FFFFFF"/>
                          </a:solidFill>
                          <a:effectLst/>
                          <a:latin typeface="Arial" panose="020B0604020202020204" pitchFamily="34" charset="0"/>
                        </a:rPr>
                        <a:t>START DATE</a:t>
                      </a:r>
                      <a:endParaRPr lang="en-US">
                        <a:effectLst/>
                      </a:endParaRPr>
                    </a:p>
                  </a:txBody>
                  <a:tcPr marT="4000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solidFill>
                      <a:srgbClr val="4F81BC"/>
                    </a:solidFill>
                  </a:tcPr>
                </a:tc>
                <a:tc>
                  <a:txBody>
                    <a:bodyPr/>
                    <a:lstStyle/>
                    <a:p>
                      <a:pPr fontAlgn="base">
                        <a:lnSpc>
                          <a:spcPts val="1650"/>
                        </a:lnSpc>
                        <a:buNone/>
                      </a:pPr>
                      <a:r>
                        <a:rPr lang="en-US" sz="1400" b="1">
                          <a:solidFill>
                            <a:srgbClr val="FFFFFF"/>
                          </a:solidFill>
                          <a:effectLst/>
                          <a:latin typeface="Arial" panose="020B0604020202020204" pitchFamily="34" charset="0"/>
                        </a:rPr>
                        <a:t>END DATE</a:t>
                      </a:r>
                      <a:endParaRPr lang="en-US">
                        <a:effectLst/>
                      </a:endParaRPr>
                    </a:p>
                  </a:txBody>
                  <a:tcPr marT="4000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3335" cap="flat" cmpd="sng" algn="ctr">
                      <a:solidFill>
                        <a:srgbClr val="FFFFFF"/>
                      </a:solidFill>
                      <a:prstDash val="solid"/>
                      <a:round/>
                      <a:headEnd type="none" w="med" len="med"/>
                      <a:tailEnd type="none" w="med" len="med"/>
                    </a:lnB>
                    <a:solidFill>
                      <a:srgbClr val="4F81BC"/>
                    </a:solidFill>
                  </a:tcPr>
                </a:tc>
                <a:extLst>
                  <a:ext uri="{0D108BD9-81ED-4DB2-BD59-A6C34878D82A}">
                    <a16:rowId xmlns:a16="http://schemas.microsoft.com/office/drawing/2014/main" val="2246056837"/>
                  </a:ext>
                </a:extLst>
              </a:tr>
              <a:tr h="1057275">
                <a:tc>
                  <a:txBody>
                    <a:bodyPr/>
                    <a:lstStyle/>
                    <a:p>
                      <a:pPr fontAlgn="base">
                        <a:lnSpc>
                          <a:spcPts val="1650"/>
                        </a:lnSpc>
                        <a:buNone/>
                      </a:pPr>
                      <a:r>
                        <a:rPr lang="en-US" sz="1400" b="1">
                          <a:effectLst/>
                          <a:latin typeface="Arial" panose="020B0604020202020204" pitchFamily="34" charset="0"/>
                        </a:rPr>
                        <a:t>Review-1</a:t>
                      </a:r>
                      <a:endParaRPr lang="en-US">
                        <a:effectLst/>
                      </a:endParaRPr>
                    </a:p>
                  </a:txBody>
                  <a:tcPr marT="4000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0D7E8"/>
                    </a:solidFill>
                  </a:tcPr>
                </a:tc>
                <a:tc>
                  <a:txBody>
                    <a:bodyPr/>
                    <a:lstStyle/>
                    <a:p>
                      <a:pPr fontAlgn="base">
                        <a:lnSpc>
                          <a:spcPts val="1650"/>
                        </a:lnSpc>
                        <a:buNone/>
                      </a:pPr>
                      <a:r>
                        <a:rPr lang="en-US" sz="1400">
                          <a:effectLst/>
                          <a:latin typeface="Arial MT"/>
                        </a:rPr>
                        <a:t>Problem statement and objectives</a:t>
                      </a:r>
                      <a:endParaRPr lang="en-US">
                        <a:effectLst/>
                      </a:endParaRPr>
                    </a:p>
                  </a:txBody>
                  <a:tcPr marT="4000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0D7E8"/>
                    </a:solidFill>
                  </a:tcPr>
                </a:tc>
                <a:tc>
                  <a:txBody>
                    <a:bodyPr/>
                    <a:lstStyle/>
                    <a:p>
                      <a:pPr fontAlgn="base">
                        <a:lnSpc>
                          <a:spcPts val="1650"/>
                        </a:lnSpc>
                        <a:buNone/>
                      </a:pPr>
                      <a:r>
                        <a:rPr lang="en-US" sz="1400">
                          <a:effectLst/>
                          <a:latin typeface="Arial MT"/>
                        </a:rPr>
                        <a:t>10-01-2026</a:t>
                      </a:r>
                      <a:endParaRPr lang="en-US">
                        <a:effectLst/>
                      </a:endParaRPr>
                    </a:p>
                  </a:txBody>
                  <a:tcPr marT="4000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0D7E8"/>
                    </a:solidFill>
                  </a:tcPr>
                </a:tc>
                <a:tc>
                  <a:txBody>
                    <a:bodyPr/>
                    <a:lstStyle/>
                    <a:p>
                      <a:pPr fontAlgn="base">
                        <a:lnSpc>
                          <a:spcPts val="1650"/>
                        </a:lnSpc>
                        <a:buNone/>
                      </a:pPr>
                      <a:r>
                        <a:rPr lang="en-US" sz="1400">
                          <a:effectLst/>
                          <a:latin typeface="Arial MT"/>
                        </a:rPr>
                        <a:t>16-01-2026</a:t>
                      </a:r>
                      <a:endParaRPr lang="en-US">
                        <a:effectLst/>
                      </a:endParaRPr>
                    </a:p>
                  </a:txBody>
                  <a:tcPr marT="4000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333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132815917"/>
                  </a:ext>
                </a:extLst>
              </a:tr>
              <a:tr h="819150">
                <a:tc>
                  <a:txBody>
                    <a:bodyPr/>
                    <a:lstStyle/>
                    <a:p>
                      <a:pPr fontAlgn="base">
                        <a:lnSpc>
                          <a:spcPts val="1650"/>
                        </a:lnSpc>
                        <a:buNone/>
                      </a:pPr>
                      <a:r>
                        <a:rPr lang="en-US" sz="1400" b="1">
                          <a:effectLst/>
                          <a:latin typeface="Arial" panose="020B0604020202020204" pitchFamily="34" charset="0"/>
                        </a:rPr>
                        <a:t>Review-2</a:t>
                      </a:r>
                      <a:endParaRPr lang="en-US">
                        <a:effectLst/>
                      </a:endParaRPr>
                    </a:p>
                  </a:txBody>
                  <a:tcPr marT="40634">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CF4"/>
                    </a:solidFill>
                  </a:tcPr>
                </a:tc>
                <a:tc>
                  <a:txBody>
                    <a:bodyPr/>
                    <a:lstStyle/>
                    <a:p>
                      <a:pPr fontAlgn="base">
                        <a:lnSpc>
                          <a:spcPts val="1650"/>
                        </a:lnSpc>
                        <a:buNone/>
                      </a:pPr>
                      <a:r>
                        <a:rPr lang="en-US" sz="1400">
                          <a:effectLst/>
                          <a:latin typeface="Arial MT"/>
                        </a:rPr>
                        <a:t>Literature review and model design</a:t>
                      </a:r>
                      <a:endParaRPr lang="en-US">
                        <a:effectLst/>
                      </a:endParaRPr>
                    </a:p>
                  </a:txBody>
                  <a:tcPr marT="40634">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CF4"/>
                    </a:solidFill>
                  </a:tcPr>
                </a:tc>
                <a:tc>
                  <a:txBody>
                    <a:bodyPr/>
                    <a:lstStyle/>
                    <a:p>
                      <a:pPr fontAlgn="base">
                        <a:lnSpc>
                          <a:spcPts val="1650"/>
                        </a:lnSpc>
                        <a:buNone/>
                      </a:pPr>
                      <a:r>
                        <a:rPr lang="en-US" sz="1400">
                          <a:effectLst/>
                          <a:latin typeface="Arial MT"/>
                        </a:rPr>
                        <a:t>31-01-2026</a:t>
                      </a:r>
                      <a:endParaRPr lang="en-US">
                        <a:effectLst/>
                      </a:endParaRPr>
                    </a:p>
                  </a:txBody>
                  <a:tcPr marT="40634">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CF4"/>
                    </a:solidFill>
                  </a:tcPr>
                </a:tc>
                <a:tc>
                  <a:txBody>
                    <a:bodyPr/>
                    <a:lstStyle/>
                    <a:p>
                      <a:pPr fontAlgn="base">
                        <a:lnSpc>
                          <a:spcPts val="1650"/>
                        </a:lnSpc>
                        <a:buNone/>
                      </a:pPr>
                      <a:r>
                        <a:rPr lang="en-US" sz="1400">
                          <a:effectLst/>
                          <a:latin typeface="Arial MT"/>
                        </a:rPr>
                        <a:t>06-02-2026</a:t>
                      </a:r>
                      <a:endParaRPr lang="en-US">
                        <a:effectLst/>
                      </a:endParaRPr>
                    </a:p>
                  </a:txBody>
                  <a:tcPr marT="40634">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2234553377"/>
                  </a:ext>
                </a:extLst>
              </a:tr>
              <a:tr h="685800">
                <a:tc>
                  <a:txBody>
                    <a:bodyPr/>
                    <a:lstStyle/>
                    <a:p>
                      <a:pPr fontAlgn="base">
                        <a:lnSpc>
                          <a:spcPts val="1650"/>
                        </a:lnSpc>
                        <a:buNone/>
                      </a:pPr>
                      <a:r>
                        <a:rPr lang="en-US" sz="1400" b="1">
                          <a:effectLst/>
                          <a:latin typeface="Arial" panose="020B0604020202020204" pitchFamily="34" charset="0"/>
                        </a:rPr>
                        <a:t>Review-3</a:t>
                      </a:r>
                      <a:endParaRPr lang="en-US">
                        <a:effectLst/>
                      </a:endParaRPr>
                    </a:p>
                  </a:txBody>
                  <a:tcPr marT="40634">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0D7E8"/>
                    </a:solidFill>
                  </a:tcPr>
                </a:tc>
                <a:tc>
                  <a:txBody>
                    <a:bodyPr/>
                    <a:lstStyle/>
                    <a:p>
                      <a:pPr fontAlgn="base">
                        <a:lnSpc>
                          <a:spcPts val="1650"/>
                        </a:lnSpc>
                        <a:buNone/>
                      </a:pPr>
                      <a:r>
                        <a:rPr lang="en-US" sz="1400">
                          <a:effectLst/>
                          <a:latin typeface="Arial MT"/>
                        </a:rPr>
                        <a:t>Development and progress</a:t>
                      </a:r>
                      <a:endParaRPr lang="en-US">
                        <a:effectLst/>
                      </a:endParaRPr>
                    </a:p>
                  </a:txBody>
                  <a:tcPr marT="40634">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0D7E8"/>
                    </a:solidFill>
                  </a:tcPr>
                </a:tc>
                <a:tc>
                  <a:txBody>
                    <a:bodyPr/>
                    <a:lstStyle/>
                    <a:p>
                      <a:pPr fontAlgn="base">
                        <a:lnSpc>
                          <a:spcPts val="1650"/>
                        </a:lnSpc>
                        <a:buNone/>
                      </a:pPr>
                      <a:r>
                        <a:rPr lang="en-US" sz="1400">
                          <a:effectLst/>
                          <a:latin typeface="Arial MT"/>
                        </a:rPr>
                        <a:t>28-02-2026</a:t>
                      </a:r>
                      <a:endParaRPr lang="en-US">
                        <a:effectLst/>
                      </a:endParaRPr>
                    </a:p>
                  </a:txBody>
                  <a:tcPr marT="40634">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0D7E8"/>
                    </a:solidFill>
                  </a:tcPr>
                </a:tc>
                <a:tc>
                  <a:txBody>
                    <a:bodyPr/>
                    <a:lstStyle/>
                    <a:p>
                      <a:pPr fontAlgn="base">
                        <a:lnSpc>
                          <a:spcPts val="1650"/>
                        </a:lnSpc>
                        <a:buNone/>
                      </a:pPr>
                      <a:r>
                        <a:rPr lang="en-US" sz="1400">
                          <a:effectLst/>
                          <a:latin typeface="Arial MT"/>
                        </a:rPr>
                        <a:t>06-03-2026</a:t>
                      </a:r>
                      <a:endParaRPr lang="en-US">
                        <a:effectLst/>
                      </a:endParaRPr>
                    </a:p>
                  </a:txBody>
                  <a:tcPr marT="40634">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3625318328"/>
                  </a:ext>
                </a:extLst>
              </a:tr>
              <a:tr h="685800">
                <a:tc>
                  <a:txBody>
                    <a:bodyPr/>
                    <a:lstStyle/>
                    <a:p>
                      <a:pPr fontAlgn="base">
                        <a:lnSpc>
                          <a:spcPts val="1650"/>
                        </a:lnSpc>
                        <a:buNone/>
                      </a:pPr>
                      <a:r>
                        <a:rPr lang="en-US" sz="1400" b="1">
                          <a:effectLst/>
                          <a:latin typeface="Arial" panose="020B0604020202020204" pitchFamily="34" charset="0"/>
                        </a:rPr>
                        <a:t>Review-4</a:t>
                      </a:r>
                      <a:endParaRPr lang="en-US">
                        <a:effectLst/>
                      </a:endParaRPr>
                    </a:p>
                  </a:txBody>
                  <a:tcPr marT="4127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CF4"/>
                    </a:solidFill>
                  </a:tcPr>
                </a:tc>
                <a:tc>
                  <a:txBody>
                    <a:bodyPr/>
                    <a:lstStyle/>
                    <a:p>
                      <a:pPr fontAlgn="base">
                        <a:lnSpc>
                          <a:spcPts val="1650"/>
                        </a:lnSpc>
                        <a:buNone/>
                      </a:pPr>
                      <a:r>
                        <a:rPr lang="en-US" sz="1400">
                          <a:effectLst/>
                          <a:latin typeface="Arial MT"/>
                        </a:rPr>
                        <a:t>Testing and final progress</a:t>
                      </a:r>
                      <a:endParaRPr lang="en-US">
                        <a:effectLst/>
                      </a:endParaRPr>
                    </a:p>
                  </a:txBody>
                  <a:tcPr marT="4127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CF4"/>
                    </a:solidFill>
                  </a:tcPr>
                </a:tc>
                <a:tc>
                  <a:txBody>
                    <a:bodyPr/>
                    <a:lstStyle/>
                    <a:p>
                      <a:pPr fontAlgn="base">
                        <a:lnSpc>
                          <a:spcPts val="1650"/>
                        </a:lnSpc>
                        <a:buNone/>
                      </a:pPr>
                      <a:r>
                        <a:rPr lang="en-US" sz="1400">
                          <a:effectLst/>
                          <a:latin typeface="Arial MT"/>
                        </a:rPr>
                        <a:t>03-04-2026</a:t>
                      </a:r>
                      <a:endParaRPr lang="en-US">
                        <a:effectLst/>
                      </a:endParaRPr>
                    </a:p>
                  </a:txBody>
                  <a:tcPr marT="4127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CF4"/>
                    </a:solidFill>
                  </a:tcPr>
                </a:tc>
                <a:tc>
                  <a:txBody>
                    <a:bodyPr/>
                    <a:lstStyle/>
                    <a:p>
                      <a:pPr fontAlgn="base">
                        <a:lnSpc>
                          <a:spcPts val="1650"/>
                        </a:lnSpc>
                        <a:buNone/>
                      </a:pPr>
                      <a:r>
                        <a:rPr lang="en-US" sz="1400">
                          <a:effectLst/>
                          <a:latin typeface="Arial MT"/>
                        </a:rPr>
                        <a:t>09-04-2026</a:t>
                      </a:r>
                      <a:endParaRPr lang="en-US">
                        <a:effectLst/>
                      </a:endParaRPr>
                    </a:p>
                  </a:txBody>
                  <a:tcPr marT="4127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CF4"/>
                    </a:solidFill>
                  </a:tcPr>
                </a:tc>
                <a:extLst>
                  <a:ext uri="{0D108BD9-81ED-4DB2-BD59-A6C34878D82A}">
                    <a16:rowId xmlns:a16="http://schemas.microsoft.com/office/drawing/2014/main" val="3961617585"/>
                  </a:ext>
                </a:extLst>
              </a:tr>
              <a:tr h="685800">
                <a:tc>
                  <a:txBody>
                    <a:bodyPr/>
                    <a:lstStyle/>
                    <a:p>
                      <a:pPr fontAlgn="base">
                        <a:lnSpc>
                          <a:spcPts val="1650"/>
                        </a:lnSpc>
                        <a:buNone/>
                      </a:pPr>
                      <a:r>
                        <a:rPr lang="en-US" sz="1400" b="1">
                          <a:effectLst/>
                          <a:latin typeface="Arial" panose="020B0604020202020204" pitchFamily="34" charset="0"/>
                        </a:rPr>
                        <a:t>Final Viva</a:t>
                      </a:r>
                      <a:endParaRPr lang="en-US">
                        <a:effectLst/>
                      </a:endParaRPr>
                    </a:p>
                  </a:txBody>
                  <a:tcPr marT="4127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0D7E8"/>
                    </a:solidFill>
                  </a:tcPr>
                </a:tc>
                <a:tc>
                  <a:txBody>
                    <a:bodyPr/>
                    <a:lstStyle/>
                    <a:p>
                      <a:pPr fontAlgn="base">
                        <a:lnSpc>
                          <a:spcPts val="1650"/>
                        </a:lnSpc>
                        <a:buNone/>
                      </a:pPr>
                      <a:r>
                        <a:rPr lang="en-US" sz="1400">
                          <a:effectLst/>
                          <a:latin typeface="Arial MT"/>
                        </a:rPr>
                        <a:t>Submission and viva</a:t>
                      </a:r>
                      <a:endParaRPr lang="en-US">
                        <a:effectLst/>
                      </a:endParaRPr>
                    </a:p>
                  </a:txBody>
                  <a:tcPr marT="4127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0D7E8"/>
                    </a:solidFill>
                  </a:tcPr>
                </a:tc>
                <a:tc>
                  <a:txBody>
                    <a:bodyPr/>
                    <a:lstStyle/>
                    <a:p>
                      <a:pPr fontAlgn="base">
                        <a:lnSpc>
                          <a:spcPts val="1650"/>
                        </a:lnSpc>
                        <a:buNone/>
                      </a:pPr>
                      <a:r>
                        <a:rPr lang="en-US" sz="1400">
                          <a:effectLst/>
                          <a:latin typeface="Arial MT"/>
                        </a:rPr>
                        <a:t>20-04-2026</a:t>
                      </a:r>
                      <a:endParaRPr lang="en-US">
                        <a:effectLst/>
                      </a:endParaRPr>
                    </a:p>
                  </a:txBody>
                  <a:tcPr marT="4127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0D7E8"/>
                    </a:solidFill>
                  </a:tcPr>
                </a:tc>
                <a:tc>
                  <a:txBody>
                    <a:bodyPr/>
                    <a:lstStyle/>
                    <a:p>
                      <a:pPr fontAlgn="base">
                        <a:lnSpc>
                          <a:spcPts val="1650"/>
                        </a:lnSpc>
                        <a:buNone/>
                      </a:pPr>
                      <a:r>
                        <a:rPr lang="en-US" sz="1400">
                          <a:effectLst/>
                          <a:latin typeface="Arial MT"/>
                        </a:rPr>
                        <a:t>26-04-2026</a:t>
                      </a:r>
                      <a:endParaRPr lang="en-US">
                        <a:effectLst/>
                      </a:endParaRPr>
                    </a:p>
                  </a:txBody>
                  <a:tcPr marT="41272">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0D7E8"/>
                    </a:solidFill>
                  </a:tcPr>
                </a:tc>
                <a:extLst>
                  <a:ext uri="{0D108BD9-81ED-4DB2-BD59-A6C34878D82A}">
                    <a16:rowId xmlns:a16="http://schemas.microsoft.com/office/drawing/2014/main" val="3966595977"/>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BBDD2-419E-A3C3-5846-B3FBEDE78F71}"/>
              </a:ext>
            </a:extLst>
          </p:cNvPr>
          <p:cNvSpPr>
            <a:spLocks noGrp="1"/>
          </p:cNvSpPr>
          <p:nvPr>
            <p:ph type="title"/>
          </p:nvPr>
        </p:nvSpPr>
        <p:spPr/>
        <p:txBody>
          <a:bodyPr/>
          <a:lstStyle/>
          <a:p>
            <a:r>
              <a:rPr lang="en-US" dirty="0"/>
              <a:t>Future Enhancements</a:t>
            </a:r>
          </a:p>
        </p:txBody>
      </p:sp>
      <p:sp>
        <p:nvSpPr>
          <p:cNvPr id="3" name="Text Placeholder 2">
            <a:extLst>
              <a:ext uri="{FF2B5EF4-FFF2-40B4-BE49-F238E27FC236}">
                <a16:creationId xmlns:a16="http://schemas.microsoft.com/office/drawing/2014/main" id="{8AA153A0-6860-5E69-EC01-57D123AB4438}"/>
              </a:ext>
            </a:extLst>
          </p:cNvPr>
          <p:cNvSpPr>
            <a:spLocks noGrp="1"/>
          </p:cNvSpPr>
          <p:nvPr>
            <p:ph type="body" idx="1"/>
          </p:nvPr>
        </p:nvSpPr>
        <p:spPr/>
        <p:txBody>
          <a:bodyPr/>
          <a:lstStyle/>
          <a:p>
            <a:r>
              <a:rPr lang="en-US" sz="2000" dirty="0"/>
              <a:t>Integration with mobile application</a:t>
            </a:r>
          </a:p>
          <a:p>
            <a:r>
              <a:rPr lang="en-US" sz="2000" dirty="0"/>
              <a:t>Real-time speech analysis</a:t>
            </a:r>
          </a:p>
          <a:p>
            <a:r>
              <a:rPr lang="en-US" sz="2000" dirty="0"/>
              <a:t>Improved deep learning models</a:t>
            </a:r>
          </a:p>
          <a:p>
            <a:r>
              <a:rPr lang="en-US" sz="2000" dirty="0"/>
              <a:t>Multilingual support</a:t>
            </a:r>
          </a:p>
          <a:p>
            <a:r>
              <a:rPr lang="en-US" sz="2000" dirty="0"/>
              <a:t>Clinical validation</a:t>
            </a:r>
          </a:p>
          <a:p>
            <a:endParaRPr lang="en-US" sz="2000" dirty="0"/>
          </a:p>
        </p:txBody>
      </p:sp>
    </p:spTree>
    <p:extLst>
      <p:ext uri="{BB962C8B-B14F-4D97-AF65-F5344CB8AC3E}">
        <p14:creationId xmlns:p14="http://schemas.microsoft.com/office/powerpoint/2010/main" val="1057870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8B276-F27A-9B06-B578-A337EFF74A1C}"/>
              </a:ext>
            </a:extLst>
          </p:cNvPr>
          <p:cNvSpPr>
            <a:spLocks noGrp="1"/>
          </p:cNvSpPr>
          <p:nvPr>
            <p:ph type="title"/>
          </p:nvPr>
        </p:nvSpPr>
        <p:spPr/>
        <p:txBody>
          <a:bodyPr/>
          <a:lstStyle/>
          <a:p>
            <a:r>
              <a:rPr lang="en-US" dirty="0"/>
              <a:t>Conclusion</a:t>
            </a:r>
          </a:p>
        </p:txBody>
      </p:sp>
      <p:sp>
        <p:nvSpPr>
          <p:cNvPr id="3" name="Text Placeholder 2">
            <a:extLst>
              <a:ext uri="{FF2B5EF4-FFF2-40B4-BE49-F238E27FC236}">
                <a16:creationId xmlns:a16="http://schemas.microsoft.com/office/drawing/2014/main" id="{4121C3A9-3E99-2FB5-5E8D-C060BCFAEAA2}"/>
              </a:ext>
            </a:extLst>
          </p:cNvPr>
          <p:cNvSpPr>
            <a:spLocks noGrp="1"/>
          </p:cNvSpPr>
          <p:nvPr>
            <p:ph type="body" idx="1"/>
          </p:nvPr>
        </p:nvSpPr>
        <p:spPr/>
        <p:txBody>
          <a:bodyPr/>
          <a:lstStyle/>
          <a:p>
            <a:r>
              <a:rPr lang="en-US" dirty="0"/>
              <a:t>Dimensional AI provides an intelligent, scalable, and efficient solution for early dementia detection. By leveraging AI and machine learning, the system enhances diagnostic support, reduces delays, and improves healthcare outcomes. The project demonstrates the potential of AI in preventive healthcare applications.</a:t>
            </a:r>
          </a:p>
        </p:txBody>
      </p:sp>
    </p:spTree>
    <p:extLst>
      <p:ext uri="{BB962C8B-B14F-4D97-AF65-F5344CB8AC3E}">
        <p14:creationId xmlns:p14="http://schemas.microsoft.com/office/powerpoint/2010/main" val="724496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009650"/>
            <a:ext cx="10668000" cy="5086350"/>
          </a:xfrm>
          <a:prstGeom prst="rect">
            <a:avLst/>
          </a:prstGeom>
          <a:noFill/>
          <a:ln>
            <a:noFill/>
          </a:ln>
        </p:spPr>
        <p:txBody>
          <a:bodyPr spcFirstLastPara="1" wrap="square" lIns="91425" tIns="45700" rIns="91425" bIns="45700" anchor="t" anchorCtr="0">
            <a:noAutofit/>
          </a:bodyPr>
          <a:lstStyle/>
          <a:p>
            <a:pPr marL="12700" indent="0">
              <a:spcBef>
                <a:spcPts val="100"/>
              </a:spcBef>
              <a:buNone/>
            </a:pPr>
            <a:r>
              <a:rPr lang="en-US" sz="2000" dirty="0"/>
              <a:t>[1]. World Health Organization (WHO), “Dementia – Key Facts,” WHO, 2023.</a:t>
            </a:r>
          </a:p>
          <a:p>
            <a:pPr marL="460375" indent="0">
              <a:spcBef>
                <a:spcPts val="0"/>
              </a:spcBef>
              <a:buNone/>
            </a:pPr>
            <a:r>
              <a:rPr lang="en-US" sz="2000" dirty="0">
                <a:solidFill>
                  <a:srgbClr val="0000FF"/>
                </a:solidFill>
                <a:hlinkClick r:id="rId3"/>
              </a:rPr>
              <a:t>https://www.who.int/news-room/fact-sheets/detail/dementia</a:t>
            </a:r>
            <a:endParaRPr lang="en-US" sz="2000" dirty="0"/>
          </a:p>
          <a:p>
            <a:pPr marL="12700" indent="0">
              <a:spcBef>
                <a:spcPts val="495"/>
              </a:spcBef>
              <a:buNone/>
            </a:pPr>
            <a:r>
              <a:rPr lang="en-US" sz="2000" dirty="0"/>
              <a:t>[2]. Alzheimer’s Association</a:t>
            </a:r>
            <a:r>
              <a:rPr lang="en-US" sz="2000" dirty="0">
                <a:cs typeface="Verdana" panose="020B0604030504040204" charset="0"/>
              </a:rPr>
              <a:t>, “What Is Dementia?,” Alzheimer’s Association, 2024.</a:t>
            </a:r>
          </a:p>
          <a:p>
            <a:pPr marL="460375" indent="0">
              <a:spcBef>
                <a:spcPts val="0"/>
              </a:spcBef>
              <a:buNone/>
            </a:pPr>
            <a:r>
              <a:rPr lang="en-US" sz="2000" dirty="0">
                <a:solidFill>
                  <a:srgbClr val="0000FF"/>
                </a:solidFill>
                <a:cs typeface="Verdana" panose="020B0604030504040204" charset="0"/>
                <a:hlinkClick r:id="rId4"/>
              </a:rPr>
              <a:t>https://www.alz.org/alzheimers-dementia/what-is-dementia</a:t>
            </a:r>
            <a:endParaRPr lang="en-US" sz="2000" dirty="0"/>
          </a:p>
          <a:p>
            <a:pPr marL="393700" marR="5080" indent="-381635">
              <a:spcBef>
                <a:spcPts val="500"/>
              </a:spcBef>
              <a:buNone/>
            </a:pPr>
            <a:r>
              <a:rPr lang="en-US" sz="2000" dirty="0">
                <a:cs typeface="Verdana" panose="020B0604030504040204" charset="0"/>
              </a:rPr>
              <a:t>[3]. M. Gauthier et al., “Artificial Intelligence in Early Detection of Dementia,” </a:t>
            </a:r>
            <a:r>
              <a:rPr lang="en-US" sz="2000" i="1" dirty="0">
                <a:cs typeface="Verdana" panose="020B0604030504040204" charset="0"/>
              </a:rPr>
              <a:t>Journal of Medical Systems</a:t>
            </a:r>
            <a:r>
              <a:rPr lang="en-US" sz="2000" dirty="0">
                <a:cs typeface="Verdana" panose="020B0604030504040204" charset="0"/>
              </a:rPr>
              <a:t>, vol. 45, no. 3, 2021.</a:t>
            </a:r>
          </a:p>
          <a:p>
            <a:pPr marL="12700" indent="0">
              <a:spcBef>
                <a:spcPts val="505"/>
              </a:spcBef>
              <a:buNone/>
            </a:pPr>
            <a:r>
              <a:rPr lang="en-US" sz="2000" dirty="0">
                <a:cs typeface="Verdana" panose="020B0604030504040204" charset="0"/>
              </a:rPr>
              <a:t>[4]. A. Fraser et al., “Detecting Cognitive Decline Using Speech and Language Analysis,” </a:t>
            </a:r>
            <a:r>
              <a:rPr lang="en-US" sz="2000" i="1" dirty="0">
                <a:cs typeface="Verdana" panose="020B0604030504040204" charset="0"/>
              </a:rPr>
              <a:t>IEEE Journal of</a:t>
            </a:r>
            <a:endParaRPr lang="en-US" sz="2000">
              <a:latin typeface="Verdana" panose="020B0604030504040204" charset="0"/>
              <a:cs typeface="Verdana" panose="020B0604030504040204" charset="0"/>
            </a:endParaRPr>
          </a:p>
          <a:p>
            <a:pPr marL="393700" indent="0">
              <a:spcBef>
                <a:spcPts val="0"/>
              </a:spcBef>
              <a:buNone/>
            </a:pPr>
            <a:r>
              <a:rPr lang="en-US" sz="2000" i="1" dirty="0">
                <a:cs typeface="Verdana" panose="020B0604030504040204" charset="0"/>
              </a:rPr>
              <a:t>Biomedical and Health Informatics</a:t>
            </a:r>
            <a:r>
              <a:rPr lang="en-US" sz="2000" dirty="0">
                <a:cs typeface="Verdana" panose="020B0604030504040204" charset="0"/>
              </a:rPr>
              <a:t>, 2020.</a:t>
            </a:r>
          </a:p>
          <a:p>
            <a:pPr marL="460375" marR="1768475" indent="-447675">
              <a:spcBef>
                <a:spcPts val="495"/>
              </a:spcBef>
              <a:buNone/>
            </a:pPr>
            <a:r>
              <a:rPr lang="en-US" sz="2000" dirty="0">
                <a:cs typeface="Verdana" panose="020B0604030504040204" charset="0"/>
              </a:rPr>
              <a:t>[5]. Scikit-learn Developers, “Machine Learning in Python,” Scikit-learn Documentation. </a:t>
            </a:r>
            <a:r>
              <a:rPr lang="en-US" sz="2000" dirty="0">
                <a:solidFill>
                  <a:srgbClr val="0000FF"/>
                </a:solidFill>
                <a:cs typeface="Verdana" panose="020B0604030504040204" charset="0"/>
                <a:hlinkClick r:id="rId5"/>
              </a:rPr>
              <a:t>https://scikit-</a:t>
            </a:r>
            <a:r>
              <a:rPr lang="en-US" sz="2000" u="sng" dirty="0">
                <a:solidFill>
                  <a:srgbClr val="0000FF"/>
                </a:solidFill>
                <a:cs typeface="Verdana" panose="020B0604030504040204" charset="0"/>
              </a:rPr>
              <a:t>l</a:t>
            </a:r>
            <a:r>
              <a:rPr lang="en-US" sz="2000" dirty="0">
                <a:solidFill>
                  <a:srgbClr val="0000FF"/>
                </a:solidFill>
                <a:cs typeface="Verdana" panose="020B0604030504040204" charset="0"/>
                <a:hlinkClick r:id="rId5"/>
              </a:rPr>
              <a:t>earn.org</a:t>
            </a:r>
            <a:endParaRPr lang="en-US" sz="2000">
              <a:latin typeface="Verdana" panose="020B0604030504040204" charset="0"/>
              <a:cs typeface="Verdana" panose="020B0604030504040204" charset="0"/>
            </a:endParaRPr>
          </a:p>
          <a:p>
            <a:pPr marL="12700" indent="0">
              <a:spcBef>
                <a:spcPts val="505"/>
              </a:spcBef>
              <a:buNone/>
            </a:pPr>
            <a:r>
              <a:rPr lang="en-US" sz="2000" dirty="0">
                <a:cs typeface="Verdana" panose="020B0604030504040204" charset="0"/>
              </a:rPr>
              <a:t>[6]. TensorFlow, “An End-to-End Open Source Machine Learning Platform,” TensorFlow.org.</a:t>
            </a:r>
            <a:endParaRPr lang="en-US" sz="2000">
              <a:latin typeface="Verdana" panose="020B0604030504040204" charset="0"/>
              <a:cs typeface="Verdana" panose="020B0604030504040204" charset="0"/>
            </a:endParaRPr>
          </a:p>
          <a:p>
            <a:pPr marL="460375" indent="0">
              <a:spcBef>
                <a:spcPts val="0"/>
              </a:spcBef>
              <a:buNone/>
            </a:pPr>
            <a:r>
              <a:rPr lang="en-US" sz="2000" dirty="0">
                <a:solidFill>
                  <a:srgbClr val="0000FF"/>
                </a:solidFill>
                <a:cs typeface="Verdana" panose="020B0604030504040204" charset="0"/>
                <a:hlinkClick r:id="rId6"/>
              </a:rPr>
              <a:t>https://www.tensorflow.org</a:t>
            </a:r>
            <a:endParaRPr lang="en-US" sz="2000">
              <a:cs typeface="Verdana" panose="020B0604030504040204" charset="0"/>
            </a:endParaRPr>
          </a:p>
          <a:p>
            <a:pPr marL="460375" indent="0">
              <a:spcBef>
                <a:spcPts val="0"/>
              </a:spcBef>
              <a:buNone/>
            </a:pP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E7962-2507-CB55-61DC-FDB5841C34BE}"/>
              </a:ext>
            </a:extLst>
          </p:cNvPr>
          <p:cNvSpPr>
            <a:spLocks noGrp="1"/>
          </p:cNvSpPr>
          <p:nvPr>
            <p:ph type="title"/>
          </p:nvPr>
        </p:nvSpPr>
        <p:spPr/>
        <p:txBody>
          <a:bodyPr/>
          <a:lstStyle/>
          <a:p>
            <a:r>
              <a:rPr lang="en-GB" dirty="0">
                <a:latin typeface="Cambria"/>
                <a:ea typeface="Cambria"/>
              </a:rPr>
              <a:t>References (IEEE Paper format)</a:t>
            </a:r>
            <a:endParaRPr lang="en-US" b="0" dirty="0">
              <a:solidFill>
                <a:srgbClr val="000000"/>
              </a:solidFill>
              <a:latin typeface="Cambria"/>
              <a:ea typeface="Cambria"/>
            </a:endParaRPr>
          </a:p>
          <a:p>
            <a:endParaRPr lang="en-US" dirty="0"/>
          </a:p>
        </p:txBody>
      </p:sp>
      <p:sp>
        <p:nvSpPr>
          <p:cNvPr id="3" name="Text Placeholder 2">
            <a:extLst>
              <a:ext uri="{FF2B5EF4-FFF2-40B4-BE49-F238E27FC236}">
                <a16:creationId xmlns:a16="http://schemas.microsoft.com/office/drawing/2014/main" id="{10C9B382-EE9F-EF8F-55CB-6CCDE8CAF40A}"/>
              </a:ext>
            </a:extLst>
          </p:cNvPr>
          <p:cNvSpPr>
            <a:spLocks noGrp="1"/>
          </p:cNvSpPr>
          <p:nvPr>
            <p:ph type="body" idx="1"/>
          </p:nvPr>
        </p:nvSpPr>
        <p:spPr/>
        <p:txBody>
          <a:bodyPr>
            <a:normAutofit/>
          </a:bodyPr>
          <a:lstStyle/>
          <a:p>
            <a:pPr>
              <a:spcBef>
                <a:spcPts val="505"/>
              </a:spcBef>
            </a:pPr>
            <a:r>
              <a:rPr lang="en-US" sz="2000" dirty="0"/>
              <a:t>[7]. </a:t>
            </a:r>
            <a:r>
              <a:rPr lang="en-US" sz="2000" err="1"/>
              <a:t>Librosa</a:t>
            </a:r>
            <a:r>
              <a:rPr lang="en-US" sz="2000" dirty="0"/>
              <a:t> Developers, “</a:t>
            </a:r>
            <a:r>
              <a:rPr lang="en-US" sz="2000" err="1"/>
              <a:t>Librosa</a:t>
            </a:r>
            <a:r>
              <a:rPr lang="en-US" sz="2000" dirty="0"/>
              <a:t>: Audio and Music Signal Analysis in Python,” </a:t>
            </a:r>
            <a:r>
              <a:rPr lang="en-US" sz="2000" err="1"/>
              <a:t>Librosa</a:t>
            </a:r>
            <a:r>
              <a:rPr lang="en-US" sz="2000" dirty="0"/>
              <a:t> Documentation.</a:t>
            </a:r>
            <a:r>
              <a:rPr lang="en-US" sz="2000" dirty="0">
                <a:solidFill>
                  <a:srgbClr val="0000FF"/>
                </a:solidFill>
                <a:hlinkClick r:id="rId2"/>
              </a:rPr>
              <a:t>https://librosa.org</a:t>
            </a:r>
            <a:endParaRPr lang="en-US" sz="2000" dirty="0"/>
          </a:p>
          <a:p>
            <a:pPr>
              <a:spcBef>
                <a:spcPts val="495"/>
              </a:spcBef>
            </a:pPr>
            <a:r>
              <a:rPr lang="en-US" sz="2000" dirty="0"/>
              <a:t>[8]. Google Research, “Speech Recognition and Cognitive Analysis Using AI,” Google AI Blog.</a:t>
            </a:r>
            <a:r>
              <a:rPr lang="en-US" sz="2000" dirty="0">
                <a:solidFill>
                  <a:srgbClr val="0000FF"/>
                </a:solidFill>
                <a:hlinkClick r:id="rId3"/>
              </a:rPr>
              <a:t>https://ai.googleblog.com</a:t>
            </a:r>
            <a:endParaRPr lang="en-US" sz="2000" dirty="0"/>
          </a:p>
          <a:p>
            <a:pPr>
              <a:spcBef>
                <a:spcPts val="500"/>
              </a:spcBef>
            </a:pPr>
            <a:r>
              <a:rPr lang="en-US" sz="2000" dirty="0"/>
              <a:t>[9]. ChatGPT, OpenAI, “AI-assisted Research and Content Generation Tool,” OpenAI.</a:t>
            </a:r>
            <a:r>
              <a:rPr lang="en-US" sz="2000" dirty="0">
                <a:solidFill>
                  <a:srgbClr val="0000FF"/>
                </a:solidFill>
                <a:hlinkClick r:id="rId4"/>
              </a:rPr>
              <a:t>https://www.openai</a:t>
            </a:r>
            <a:r>
              <a:rPr lang="en-US" sz="2000" u="sng" dirty="0">
                <a:solidFill>
                  <a:srgbClr val="0000FF"/>
                </a:solidFill>
              </a:rPr>
              <a:t>.</a:t>
            </a:r>
            <a:r>
              <a:rPr lang="en-US" sz="2000" dirty="0">
                <a:solidFill>
                  <a:srgbClr val="0000FF"/>
                </a:solidFill>
                <a:hlinkClick r:id="rId4"/>
              </a:rPr>
              <a:t>com</a:t>
            </a:r>
            <a:endParaRPr lang="en-US" sz="2000" dirty="0"/>
          </a:p>
          <a:p>
            <a:pPr>
              <a:spcBef>
                <a:spcPts val="0"/>
              </a:spcBef>
            </a:pPr>
            <a:r>
              <a:rPr lang="en-US" sz="2000" b="1" dirty="0">
                <a:latin typeface="Calibri"/>
                <a:ea typeface="Calibri"/>
                <a:cs typeface="Calibri"/>
              </a:rPr>
              <a:t>[10].</a:t>
            </a:r>
            <a:r>
              <a:rPr lang="en-US" sz="2000" dirty="0">
                <a:latin typeface="Calibri"/>
                <a:ea typeface="Calibri"/>
                <a:cs typeface="Calibri"/>
              </a:rPr>
              <a:t> Petersen, R. C., “Early Diagnosis of Alzheimer’s Disease: Is MCI Too Late?,” </a:t>
            </a:r>
            <a:r>
              <a:rPr lang="en-US" sz="2000" i="1" dirty="0">
                <a:latin typeface="Calibri"/>
                <a:ea typeface="Calibri"/>
                <a:cs typeface="Calibri"/>
              </a:rPr>
              <a:t>Current Alzheimer Research</a:t>
            </a:r>
            <a:r>
              <a:rPr lang="en-US" sz="2000" dirty="0">
                <a:latin typeface="Calibri"/>
                <a:ea typeface="Calibri"/>
                <a:cs typeface="Calibri"/>
              </a:rPr>
              <a:t>, vol. 6,no. 4, pp. 324–330, 2009.</a:t>
            </a:r>
            <a:endParaRPr lang="en-US" sz="2000" dirty="0">
              <a:latin typeface="Cambria"/>
              <a:ea typeface="Cambria"/>
            </a:endParaRPr>
          </a:p>
          <a:p>
            <a:pPr>
              <a:spcBef>
                <a:spcPts val="0"/>
              </a:spcBef>
            </a:pPr>
            <a:r>
              <a:rPr lang="en-US" sz="2000" b="1" dirty="0">
                <a:latin typeface="Calibri"/>
                <a:ea typeface="Calibri"/>
                <a:cs typeface="Calibri"/>
              </a:rPr>
              <a:t>[11].</a:t>
            </a:r>
            <a:r>
              <a:rPr lang="en-US" sz="2000" dirty="0">
                <a:latin typeface="Calibri"/>
                <a:ea typeface="Calibri"/>
                <a:cs typeface="Calibri"/>
              </a:rPr>
              <a:t> Jack, C. R. et al., “NIA-AA Research Framework: Toward a Biological Definition of Alzheimer’s </a:t>
            </a:r>
            <a:r>
              <a:rPr lang="en-US" sz="2000" dirty="0" err="1">
                <a:latin typeface="Calibri"/>
                <a:ea typeface="Calibri"/>
                <a:cs typeface="Calibri"/>
              </a:rPr>
              <a:t>Disease,”</a:t>
            </a:r>
            <a:r>
              <a:rPr lang="en-US" sz="2000" i="1" dirty="0" err="1">
                <a:latin typeface="Calibri"/>
                <a:ea typeface="Calibri"/>
                <a:cs typeface="Calibri"/>
              </a:rPr>
              <a:t>Alzheimer’s</a:t>
            </a:r>
            <a:r>
              <a:rPr lang="en-US" sz="2000" i="1" dirty="0">
                <a:latin typeface="Calibri"/>
                <a:ea typeface="Calibri"/>
                <a:cs typeface="Calibri"/>
              </a:rPr>
              <a:t> &amp; Dementia</a:t>
            </a:r>
            <a:r>
              <a:rPr lang="en-US" sz="2000" dirty="0">
                <a:latin typeface="Calibri"/>
                <a:ea typeface="Calibri"/>
                <a:cs typeface="Calibri"/>
              </a:rPr>
              <a:t>, vol. 14, no. 4, pp. 535–562, 2018.</a:t>
            </a:r>
          </a:p>
          <a:p>
            <a:pPr>
              <a:spcBef>
                <a:spcPts val="0"/>
              </a:spcBef>
            </a:pPr>
            <a:r>
              <a:rPr lang="en-US" sz="2000" b="1" dirty="0">
                <a:latin typeface="Calibri"/>
                <a:ea typeface="Calibri"/>
                <a:cs typeface="Calibri"/>
              </a:rPr>
              <a:t>[12].</a:t>
            </a:r>
            <a:r>
              <a:rPr lang="en-US" sz="2000" dirty="0">
                <a:latin typeface="Calibri"/>
                <a:ea typeface="Calibri"/>
                <a:cs typeface="Calibri"/>
              </a:rPr>
              <a:t> Shah, S. et al., “A Survey on Machine Learning Techniques for Dementia Detection,” </a:t>
            </a:r>
            <a:r>
              <a:rPr lang="en-US" sz="2000" i="1" dirty="0">
                <a:latin typeface="Calibri"/>
                <a:ea typeface="Calibri"/>
                <a:cs typeface="Calibri"/>
              </a:rPr>
              <a:t>Computer Methods </a:t>
            </a:r>
            <a:r>
              <a:rPr lang="en-US" sz="2000" i="1" dirty="0" err="1">
                <a:latin typeface="Calibri"/>
                <a:ea typeface="Calibri"/>
                <a:cs typeface="Calibri"/>
              </a:rPr>
              <a:t>andPrograms</a:t>
            </a:r>
            <a:r>
              <a:rPr lang="en-US" sz="2000" i="1" dirty="0">
                <a:latin typeface="Calibri"/>
                <a:ea typeface="Calibri"/>
                <a:cs typeface="Calibri"/>
              </a:rPr>
              <a:t> in Biomedicine</a:t>
            </a:r>
            <a:r>
              <a:rPr lang="en-US" sz="2000" dirty="0">
                <a:latin typeface="Calibri"/>
                <a:ea typeface="Calibri"/>
                <a:cs typeface="Calibri"/>
              </a:rPr>
              <a:t>, vol. 189, 2020.</a:t>
            </a:r>
          </a:p>
          <a:p>
            <a:pPr>
              <a:spcBef>
                <a:spcPts val="0"/>
              </a:spcBef>
            </a:pPr>
            <a:r>
              <a:rPr lang="en-US" sz="2000" b="1" dirty="0">
                <a:latin typeface="Calibri"/>
                <a:ea typeface="Calibri"/>
                <a:cs typeface="Calibri"/>
              </a:rPr>
              <a:t>[13].</a:t>
            </a:r>
            <a:r>
              <a:rPr lang="en-US" sz="2000" dirty="0">
                <a:latin typeface="Calibri"/>
                <a:ea typeface="Calibri"/>
                <a:cs typeface="Calibri"/>
              </a:rPr>
              <a:t> López-de-</a:t>
            </a:r>
            <a:r>
              <a:rPr lang="en-US" sz="2000" dirty="0" err="1">
                <a:latin typeface="Calibri"/>
                <a:ea typeface="Calibri"/>
                <a:cs typeface="Calibri"/>
              </a:rPr>
              <a:t>Ipiña</a:t>
            </a:r>
            <a:r>
              <a:rPr lang="en-US" sz="2000" dirty="0">
                <a:latin typeface="Calibri"/>
                <a:ea typeface="Calibri"/>
                <a:cs typeface="Calibri"/>
              </a:rPr>
              <a:t>, K. et al., “Analysis of Speech and Language for Early Detection of Alzheimer’s </a:t>
            </a:r>
            <a:r>
              <a:rPr lang="en-US" sz="2000" dirty="0" err="1">
                <a:latin typeface="Calibri"/>
                <a:ea typeface="Calibri"/>
                <a:cs typeface="Calibri"/>
              </a:rPr>
              <a:t>Disease,”</a:t>
            </a:r>
            <a:r>
              <a:rPr lang="en-US" sz="2000" i="1" dirty="0" err="1">
                <a:latin typeface="Calibri"/>
                <a:ea typeface="Calibri"/>
                <a:cs typeface="Calibri"/>
              </a:rPr>
              <a:t>Neurocomputing</a:t>
            </a:r>
            <a:r>
              <a:rPr lang="en-US" sz="2000" dirty="0">
                <a:latin typeface="Calibri"/>
                <a:ea typeface="Calibri"/>
                <a:cs typeface="Calibri"/>
              </a:rPr>
              <a:t>, vol. 150, pp. 392–402, 2015.</a:t>
            </a:r>
          </a:p>
          <a:p>
            <a:pPr>
              <a:spcBef>
                <a:spcPts val="0"/>
              </a:spcBef>
            </a:pPr>
            <a:endParaRPr lang="en-US" sz="2000" dirty="0">
              <a:latin typeface="Calibri"/>
              <a:ea typeface="Calibri"/>
              <a:cs typeface="Calibri"/>
            </a:endParaRPr>
          </a:p>
          <a:p>
            <a:pPr>
              <a:spcBef>
                <a:spcPts val="0"/>
              </a:spcBef>
            </a:pPr>
            <a:endParaRPr lang="en-US" sz="2000" dirty="0">
              <a:latin typeface="Calibri"/>
              <a:ea typeface="Calibri"/>
              <a:cs typeface="Calibri"/>
            </a:endParaRPr>
          </a:p>
          <a:p>
            <a:endParaRPr lang="en-US" sz="2000" dirty="0"/>
          </a:p>
        </p:txBody>
      </p:sp>
    </p:spTree>
    <p:extLst>
      <p:ext uri="{BB962C8B-B14F-4D97-AF65-F5344CB8AC3E}">
        <p14:creationId xmlns:p14="http://schemas.microsoft.com/office/powerpoint/2010/main" val="10247841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38C4F-303F-47BB-4645-874E21C9575C}"/>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FBFB061-0E51-68B3-2401-028C7144294E}"/>
              </a:ext>
            </a:extLst>
          </p:cNvPr>
          <p:cNvSpPr>
            <a:spLocks noGrp="1"/>
          </p:cNvSpPr>
          <p:nvPr>
            <p:ph type="body" idx="1"/>
          </p:nvPr>
        </p:nvSpPr>
        <p:spPr/>
        <p:txBody>
          <a:bodyPr spcFirstLastPara="1" wrap="square" lIns="91425" tIns="45700" rIns="91425" bIns="45700" anchor="t" anchorCtr="0">
            <a:noAutofit/>
          </a:bodyPr>
          <a:lstStyle/>
          <a:p>
            <a:pPr marL="285750" indent="-285750">
              <a:spcBef>
                <a:spcPts val="0"/>
              </a:spcBef>
            </a:pPr>
            <a:r>
              <a:rPr lang="en-US" sz="1900" b="1" dirty="0">
                <a:latin typeface="Calibri"/>
                <a:ea typeface="Calibri"/>
                <a:cs typeface="Calibri"/>
              </a:rPr>
              <a:t>[14].</a:t>
            </a:r>
            <a:r>
              <a:rPr lang="en-US" sz="1900" dirty="0">
                <a:latin typeface="Calibri"/>
                <a:ea typeface="Calibri"/>
                <a:cs typeface="Calibri"/>
              </a:rPr>
              <a:t> World Alzheimer Report 2023, “Reducing Dementia Risk: Never Too Early, Never Too Late,” Alzheimer’s </a:t>
            </a:r>
            <a:r>
              <a:rPr lang="en-US" sz="1900" dirty="0" err="1">
                <a:latin typeface="Calibri"/>
                <a:ea typeface="Calibri"/>
                <a:cs typeface="Calibri"/>
              </a:rPr>
              <a:t>DiseaseInternational</a:t>
            </a:r>
            <a:r>
              <a:rPr lang="en-US" sz="1900" dirty="0">
                <a:latin typeface="Calibri"/>
                <a:ea typeface="Calibri"/>
                <a:cs typeface="Calibri"/>
              </a:rPr>
              <a:t> (ADI).</a:t>
            </a:r>
          </a:p>
          <a:p>
            <a:pPr marL="285750" indent="-285750">
              <a:spcBef>
                <a:spcPts val="0"/>
              </a:spcBef>
            </a:pPr>
            <a:r>
              <a:rPr lang="en-US" sz="1900" b="1" dirty="0">
                <a:latin typeface="Calibri"/>
                <a:ea typeface="Calibri"/>
                <a:cs typeface="Calibri"/>
              </a:rPr>
              <a:t>[15].</a:t>
            </a:r>
            <a:r>
              <a:rPr lang="en-US" sz="1900" dirty="0">
                <a:latin typeface="Calibri"/>
                <a:ea typeface="Calibri"/>
                <a:cs typeface="Calibri"/>
              </a:rPr>
              <a:t> Esteva, A. et al., “A Guide to Deep Learning in Healthcare,” </a:t>
            </a:r>
            <a:r>
              <a:rPr lang="en-US" sz="1900" i="1" dirty="0">
                <a:latin typeface="Calibri"/>
                <a:ea typeface="Calibri"/>
                <a:cs typeface="Calibri"/>
              </a:rPr>
              <a:t>Nature Medicine</a:t>
            </a:r>
            <a:r>
              <a:rPr lang="en-US" sz="1900" dirty="0">
                <a:latin typeface="Calibri"/>
                <a:ea typeface="Calibri"/>
                <a:cs typeface="Calibri"/>
              </a:rPr>
              <a:t>, vol. 25, pp. 24–29, 2019.</a:t>
            </a:r>
            <a:endParaRPr lang="en-US" dirty="0"/>
          </a:p>
        </p:txBody>
      </p:sp>
    </p:spTree>
    <p:extLst>
      <p:ext uri="{BB962C8B-B14F-4D97-AF65-F5344CB8AC3E}">
        <p14:creationId xmlns:p14="http://schemas.microsoft.com/office/powerpoint/2010/main" val="2850268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426*142"/>
  <p:tag name="TABLE_ENDDRAG_RECT" val="53*238*426*142"/>
</p:tagLst>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9171</Words>
  <Application>Microsoft Office PowerPoint</Application>
  <PresentationFormat>Widescreen</PresentationFormat>
  <Paragraphs>244</Paragraphs>
  <Slides>23</Slides>
  <Notes>8</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Bioinformatics</vt:lpstr>
      <vt:lpstr>AI TOOL for early stage dementia detection </vt:lpstr>
      <vt:lpstr>Problem Statement Number </vt:lpstr>
      <vt:lpstr>Content</vt:lpstr>
      <vt:lpstr>Content</vt:lpstr>
      <vt:lpstr>Abstract</vt:lpstr>
      <vt:lpstr>Literature Survey</vt:lpstr>
      <vt:lpstr>Literature Survey</vt:lpstr>
      <vt:lpstr>Literature Survey</vt:lpstr>
      <vt:lpstr>Objectives</vt:lpstr>
      <vt:lpstr>Existing Methods &amp; Drawbacks</vt:lpstr>
      <vt:lpstr>Existing Methods &amp; Drawbacks</vt:lpstr>
      <vt:lpstr>Proposed Method &amp; Feasibility Study</vt:lpstr>
      <vt:lpstr>Architectural Diagram</vt:lpstr>
      <vt:lpstr>Modules Description</vt:lpstr>
      <vt:lpstr>Hardware &amp; Software Details</vt:lpstr>
      <vt:lpstr>Github Link</vt:lpstr>
      <vt:lpstr>Timeline of the Project (Gantt Chart)</vt:lpstr>
      <vt:lpstr>Future Enhancements</vt:lpstr>
      <vt:lpstr>Conclusion</vt:lpstr>
      <vt:lpstr>References (IEEE Paper format)</vt:lpstr>
      <vt:lpstr>References (IEEE Paper format)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Vanka Revanth Adithya</cp:lastModifiedBy>
  <cp:revision>252</cp:revision>
  <dcterms:created xsi:type="dcterms:W3CDTF">2025-08-09T12:05:00Z</dcterms:created>
  <dcterms:modified xsi:type="dcterms:W3CDTF">2026-02-01T21:53:02Z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C81251F72F874368AB896DF07769F6D8_12</vt:lpwstr>
  </property>
  <property fmtid="{D5CDD505-2E9C-101B-9397-08002B2CF9AE}" pid="3" name="KSOProductBuildVer">
    <vt:lpwstr>1033-12.2.0.21931</vt:lpwstr>
  </property>
</Properties>
</file>