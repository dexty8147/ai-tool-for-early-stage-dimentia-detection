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69" r:id="rId5"/>
    <p:sldId id="274" r:id="rId6"/>
    <p:sldId id="276" r:id="rId7"/>
    <p:sldId id="282" r:id="rId8"/>
    <p:sldId id="283" r:id="rId9"/>
    <p:sldId id="275" r:id="rId10"/>
    <p:sldId id="286" r:id="rId11"/>
    <p:sldId id="288" r:id="rId12"/>
    <p:sldId id="279" r:id="rId13"/>
    <p:sldId id="280" r:id="rId14"/>
    <p:sldId id="281" r:id="rId15"/>
    <p:sldId id="268" r:id="rId16"/>
    <p:sldId id="270" r:id="rId17"/>
    <p:sldId id="265" r:id="rId18"/>
    <p:sldId id="291" r:id="rId19"/>
    <p:sldId id="292" r:id="rId20"/>
    <p:sldId id="266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7690726-49DA-4552-BDEB-330DD8EA8BD9}" styleName="Table_0">
    <a:wholeTbl>
      <a:tcTxStyle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2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hyperlink" Target="https://www.tensorflow.org/" TargetMode="External"/><Relationship Id="rId3" Type="http://schemas.openxmlformats.org/officeDocument/2006/relationships/hyperlink" Target="https://scikit-learn.org/" TargetMode="External"/><Relationship Id="rId2" Type="http://schemas.openxmlformats.org/officeDocument/2006/relationships/hyperlink" Target="https://www.alz.org/alzheimers-dementia/what-is-dementia" TargetMode="External"/><Relationship Id="rId1" Type="http://schemas.openxmlformats.org/officeDocument/2006/relationships/hyperlink" Target="https://www.who.int/news-room/fact-sheets/detail/dementia" TargetMode="Externa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www.openai.com/" TargetMode="External"/><Relationship Id="rId2" Type="http://schemas.openxmlformats.org/officeDocument/2006/relationships/hyperlink" Target="https://ai.googleblog.com/" TargetMode="External"/><Relationship Id="rId1" Type="http://schemas.openxmlformats.org/officeDocument/2006/relationships/hyperlink" Target="https://librosa.org/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575" y="1026795"/>
            <a:ext cx="10363200" cy="1277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US" sz="2250" dirty="0">
                <a:solidFill>
                  <a:schemeClr val="tx1"/>
                </a:solidFill>
                <a:latin typeface="Cambria" panose="02040503050406030204"/>
                <a:ea typeface="Cambria" panose="02040503050406030204"/>
                <a:sym typeface="+mn-ea"/>
              </a:rPr>
              <a:t>AI TOOL for </a:t>
            </a:r>
            <a:r>
              <a:rPr lang="en-IN" altLang="en-US" sz="2250" dirty="0">
                <a:solidFill>
                  <a:schemeClr val="tx1"/>
                </a:solidFill>
                <a:latin typeface="Cambria" panose="02040503050406030204"/>
                <a:ea typeface="Cambria" panose="02040503050406030204"/>
                <a:sym typeface="+mn-ea"/>
              </a:rPr>
              <a:t>E</a:t>
            </a:r>
            <a:r>
              <a:rPr lang="en-US" sz="2250" dirty="0">
                <a:solidFill>
                  <a:schemeClr val="tx1"/>
                </a:solidFill>
                <a:latin typeface="Cambria" panose="02040503050406030204"/>
                <a:ea typeface="Cambria" panose="02040503050406030204"/>
                <a:sym typeface="+mn-ea"/>
              </a:rPr>
              <a:t>arly </a:t>
            </a:r>
            <a:r>
              <a:rPr lang="en-IN" altLang="en-US" sz="2250" dirty="0">
                <a:solidFill>
                  <a:schemeClr val="tx1"/>
                </a:solidFill>
                <a:latin typeface="Cambria" panose="02040503050406030204"/>
                <a:ea typeface="Cambria" panose="02040503050406030204"/>
                <a:sym typeface="+mn-ea"/>
              </a:rPr>
              <a:t>S</a:t>
            </a:r>
            <a:r>
              <a:rPr lang="en-US" sz="2250" dirty="0">
                <a:solidFill>
                  <a:schemeClr val="tx1"/>
                </a:solidFill>
                <a:latin typeface="Cambria" panose="02040503050406030204"/>
                <a:ea typeface="Cambria" panose="02040503050406030204"/>
                <a:sym typeface="+mn-ea"/>
              </a:rPr>
              <a:t>tage </a:t>
            </a:r>
            <a:r>
              <a:rPr lang="en-IN" altLang="en-US" sz="2250" dirty="0">
                <a:solidFill>
                  <a:schemeClr val="tx1"/>
                </a:solidFill>
                <a:latin typeface="Cambria" panose="02040503050406030204"/>
                <a:ea typeface="Cambria" panose="02040503050406030204"/>
                <a:sym typeface="+mn-ea"/>
              </a:rPr>
              <a:t>D</a:t>
            </a:r>
            <a:r>
              <a:rPr lang="en-US" sz="2250" dirty="0">
                <a:solidFill>
                  <a:schemeClr val="tx1"/>
                </a:solidFill>
                <a:latin typeface="Cambria" panose="02040503050406030204"/>
                <a:ea typeface="Cambria" panose="02040503050406030204"/>
                <a:sym typeface="+mn-ea"/>
              </a:rPr>
              <a:t>ementia </a:t>
            </a:r>
            <a:r>
              <a:rPr lang="en-IN" altLang="en-US" sz="2250" dirty="0">
                <a:solidFill>
                  <a:schemeClr val="tx1"/>
                </a:solidFill>
                <a:latin typeface="Cambria" panose="02040503050406030204"/>
                <a:ea typeface="Cambria" panose="02040503050406030204"/>
                <a:sym typeface="+mn-ea"/>
              </a:rPr>
              <a:t>D</a:t>
            </a:r>
            <a:r>
              <a:rPr lang="en-US" sz="2250" dirty="0">
                <a:solidFill>
                  <a:schemeClr val="tx1"/>
                </a:solidFill>
                <a:latin typeface="Cambria" panose="02040503050406030204"/>
                <a:ea typeface="Cambria" panose="02040503050406030204"/>
                <a:sym typeface="+mn-ea"/>
              </a:rPr>
              <a:t>etection</a:t>
            </a:r>
            <a:endParaRPr lang="en-IN" altLang="en-US" sz="225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575" y="2612390"/>
            <a:ext cx="4391025" cy="41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</a:t>
            </a:r>
            <a:r>
              <a:rPr lang="en-IN" alt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en-IN" altLang="en-GB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 CSE-176</a:t>
            </a:r>
            <a:endParaRPr lang="en-IN" altLang="en-GB" sz="18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75" y="2721610"/>
            <a:ext cx="5514340" cy="1832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lang="en-GB"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457200" marR="0" lvl="1" indent="45720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chemeClr val="tx1"/>
                </a:solidFill>
                <a:sym typeface="+mn-ea"/>
              </a:rPr>
              <a:t>Ms. Saiqa Khan N</a:t>
            </a:r>
            <a:endParaRPr lang="en-US" sz="17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chemeClr val="tx1"/>
                </a:solidFill>
                <a:sym typeface="+mn-ea"/>
              </a:rPr>
              <a:t>Ass</a:t>
            </a:r>
            <a:r>
              <a:rPr lang="en-IN" altLang="en-US" sz="1700" b="1" dirty="0">
                <a:solidFill>
                  <a:schemeClr val="tx1"/>
                </a:solidFill>
                <a:sym typeface="+mn-ea"/>
              </a:rPr>
              <a:t>ociate</a:t>
            </a:r>
            <a:r>
              <a:rPr lang="en-US" sz="1700" b="1" dirty="0">
                <a:solidFill>
                  <a:schemeClr val="tx1"/>
                </a:solidFill>
                <a:sym typeface="+mn-ea"/>
              </a:rPr>
              <a:t> Professor</a:t>
            </a:r>
            <a:endParaRPr lang="en-US" sz="17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chemeClr val="tx1"/>
                </a:solidFill>
                <a:sym typeface="+mn-ea"/>
              </a:rPr>
              <a:t>School of Computer Science Engineering</a:t>
            </a:r>
            <a:endParaRPr lang="en-US" sz="17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chemeClr val="tx1"/>
                </a:solidFill>
                <a:sym typeface="+mn-ea"/>
              </a:rPr>
              <a:t>Presidency University</a:t>
            </a:r>
            <a:endParaRPr lang="en-US" sz="1700" b="1" dirty="0">
              <a:solidFill>
                <a:schemeClr val="tx1"/>
              </a:solidFill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17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graphicFrame>
        <p:nvGraphicFramePr>
          <p:cNvPr id="89" name="Google Shape;89;p13"/>
          <p:cNvGraphicFramePr/>
          <p:nvPr>
            <p:custDataLst>
              <p:tags r:id="rId1"/>
            </p:custDataLst>
          </p:nvPr>
        </p:nvGraphicFramePr>
        <p:xfrm>
          <a:off x="677545" y="3030220"/>
          <a:ext cx="5418455" cy="219456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4705"/>
                <a:gridCol w="3333750"/>
              </a:tblGrid>
              <a:tr h="365760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20221CSE0268</a:t>
                      </a:r>
                      <a:endParaRPr lang="en-IN"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PIRUTHVIRAJ S</a:t>
                      </a:r>
                      <a:endParaRPr lang="en-IN"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20221CSE0270</a:t>
                      </a:r>
                      <a:endParaRPr lang="en-IN"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RAFAEL V</a:t>
                      </a:r>
                      <a:endParaRPr lang="en-IN"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20221CSE0260</a:t>
                      </a:r>
                      <a:endParaRPr lang="en-IN"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REVANTH ADITHYA V</a:t>
                      </a:r>
                      <a:endParaRPr lang="en-IN"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CSE7101-</a:t>
            </a:r>
            <a:r>
              <a:rPr lang="en-GB" sz="18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Review-</a:t>
            </a:r>
            <a:r>
              <a:rPr lang="en-IN" altLang="en-GB" sz="18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3</a:t>
            </a:r>
            <a:endParaRPr lang="en-IN" altLang="en-GB" sz="1800" b="1" i="0" u="none" strike="noStrike" cap="none" dirty="0" smtClean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843145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</a:t>
            </a:r>
            <a:r>
              <a:rPr lang="en-IN" altLang="en-US" sz="18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US" sz="18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:</a:t>
            </a:r>
            <a:r>
              <a:rPr lang="en-IN" altLang="en-US" sz="18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US" sz="18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IN" sz="18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Computer Science and Engineering</a:t>
            </a:r>
            <a:endParaRPr lang="en-IN" sz="1800" b="1" i="0" u="none" strike="noStrike" cap="none" dirty="0" smtClean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</a:t>
            </a:r>
            <a:r>
              <a:rPr lang="en-IN" altLang="en-US" sz="1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US" sz="1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: </a:t>
            </a:r>
            <a:r>
              <a:rPr lang="en-IN" altLang="en-US" sz="1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Blessed Prince</a:t>
            </a:r>
            <a:endParaRPr lang="en-US" sz="1800" b="1" dirty="0" smtClean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Project Coordinator</a:t>
            </a:r>
            <a:r>
              <a:rPr lang="en-IN" altLang="en-US" sz="18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US" sz="18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: </a:t>
            </a:r>
            <a:r>
              <a:rPr lang="en-IN" altLang="en-US" sz="18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Muthuraj</a:t>
            </a:r>
            <a:endParaRPr lang="en-US" sz="1800" b="1" i="0" u="none" strike="noStrike" cap="none" dirty="0" smtClean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Project Coordinators</a:t>
            </a:r>
            <a:r>
              <a:rPr lang="en-IN" altLang="en-US" sz="1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US" sz="1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: </a:t>
            </a:r>
            <a:r>
              <a:rPr lang="en-US" sz="1800" b="1" i="0" u="none" strike="noStrike" cap="none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</a:t>
            </a:r>
            <a:r>
              <a:rPr lang="en-US" sz="1800" b="1" i="0" u="none" strike="noStrike" cap="none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Sampath</a:t>
            </a:r>
            <a:r>
              <a:rPr lang="en-US" sz="1800" b="1" i="0" u="none" strike="noStrike" cap="none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 K , Dr. </a:t>
            </a:r>
            <a:r>
              <a:rPr lang="en-US" sz="1800" b="1" i="0" u="none" strike="noStrike" cap="none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Geetha</a:t>
            </a:r>
            <a:r>
              <a:rPr lang="en-US" sz="1800" b="1" i="0" u="none" strike="noStrike" cap="none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Problem Statement Number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615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Category 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(Hardware / Software / Both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en-IN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Software</a:t>
            </a: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18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Description</a:t>
            </a:r>
            <a:r>
              <a:rPr lang="en-IN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en-IN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>
                <a:sym typeface="+mn-ea"/>
              </a:rPr>
              <a:t>Early detection of dementia is challenging due to subtle symptoms, time-consuming clinical tests, and lack of accessible diagnostic tools. Traditional diagnosis relies heavily on expert evaluation, which is costly and not scalable. There is a need for an intelligent, automated, and reliable system that can assist in early-stage dementia screening using AI techniques.</a:t>
            </a:r>
            <a:endParaRPr lang="en-US" altLang="en-US" b="1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alt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alt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Content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955" y="935990"/>
            <a:ext cx="10668000" cy="534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 lnSpcReduction="1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Chapter 1 : </a:t>
            </a:r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Introduction to </a:t>
            </a:r>
            <a:r>
              <a:rPr lang="en-IN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the AI tool</a:t>
            </a:r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– Brand </a:t>
            </a:r>
            <a:r>
              <a:rPr lang="en-IN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Overview, Mission, and Products</a:t>
            </a:r>
            <a:endParaRPr lang="en-US" alt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Chapter 2 : </a:t>
            </a:r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Market Analysis – Stationery Market Trends and Online Competition</a:t>
            </a:r>
            <a:endParaRPr lang="en-US" alt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Chapter 3 : </a:t>
            </a:r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Target Audience – </a:t>
            </a:r>
            <a:r>
              <a:rPr lang="en-IN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Clinic’s/Hospital’s (Large-scale or small-scale)</a:t>
            </a:r>
            <a:endParaRPr lang="en-US" alt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Chapter 4 : </a:t>
            </a:r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Marketing – </a:t>
            </a:r>
            <a:r>
              <a:rPr lang="en-IN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Media, E-mail, Content Marketing, Customer Services, 			Newsletters and Influencer Reach</a:t>
            </a:r>
            <a:endParaRPr lang="en-US" altLang="en-US" dirty="0" smtClean="0"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Chapter 5 : 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 </a:t>
            </a:r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Analytics &amp; ROI – Using Data-Driven Insights for Improvement</a:t>
            </a:r>
            <a:endParaRPr lang="en-US" alt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Chapter 6 :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 </a:t>
            </a:r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Conclusion &amp; Future Roadmap – Scaling Sales</a:t>
            </a:r>
            <a:r>
              <a:rPr lang="en-IN" altLang="en-US" dirty="0" smtClean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, De</a:t>
            </a:r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ployment Growth</a:t>
            </a:r>
            <a:r>
              <a:rPr lang="en-IN" altLang="en-US" dirty="0" smtClean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 and        		Increase in Accuracy</a:t>
            </a: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ym typeface="+mn-ea"/>
              </a:rPr>
              <a:t>Chapter </a:t>
            </a:r>
            <a:r>
              <a:rPr lang="en-US" altLang="en-US"/>
              <a:t>1: Introduction to </a:t>
            </a:r>
            <a:r>
              <a:rPr lang="en-IN" altLang="en-US"/>
              <a:t>AI Tool - Brand Overview, Mission and Products</a:t>
            </a:r>
            <a:endParaRPr lang="en-I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pPr marL="76200" indent="0">
              <a:buNone/>
            </a:pPr>
            <a:r>
              <a:rPr lang="en-IN" altLang="en-US" sz="1900" b="1"/>
              <a:t>Overview :</a:t>
            </a:r>
            <a:r>
              <a:rPr lang="en-IN" altLang="en-US" sz="1900"/>
              <a:t> </a:t>
            </a:r>
            <a:r>
              <a:rPr lang="en-US" altLang="en-US" sz="1900"/>
              <a:t>Dimensional AI is an advanced AI-powered system developed for early-stage dementia risk detection. The platform analyzes multi-dimensional data including speech patterns, cognitive assessment scores, and behavioral indicators to identify subtle cognitive decline.</a:t>
            </a:r>
            <a:r>
              <a:rPr lang="en-IN" altLang="en-US" sz="1900"/>
              <a:t> </a:t>
            </a:r>
            <a:r>
              <a:rPr lang="en-US" altLang="en-US" sz="1900"/>
              <a:t>Dimensional AI provides a non-invasive, cost-effective, and scalable screening solution. Designed for integration within clinics, hospitals, and telemedicine platforms, the system leverages machine learning and deep learning techniques to deliver real-time, accurate risk predictions while supporting global dementia awareness initiatives.</a:t>
            </a:r>
            <a:endParaRPr lang="en-US" altLang="en-US" sz="1900"/>
          </a:p>
          <a:p>
            <a:pPr marL="76200" indent="0">
              <a:buNone/>
            </a:pPr>
            <a:endParaRPr lang="en-US" altLang="en-US" sz="1900"/>
          </a:p>
          <a:p>
            <a:pPr marL="76200" indent="0">
              <a:buNone/>
            </a:pPr>
            <a:r>
              <a:rPr lang="en-US" altLang="en-US" sz="1900" b="1"/>
              <a:t>Mission:</a:t>
            </a:r>
            <a:r>
              <a:rPr lang="en-IN" altLang="en-US" sz="1900" b="1"/>
              <a:t> </a:t>
            </a:r>
            <a:r>
              <a:rPr lang="en-US" altLang="en-US" sz="1900"/>
              <a:t>The mission of Dimensional AI is to enable early and accurate dementia detection through AI-driven clinical insights. The project aims to reduce reliance on expensive, specialist-dependent diagnostic procedures by providing an intelligent decision-support system for healthcare professionals.</a:t>
            </a:r>
            <a:endParaRPr lang="en-US" altLang="en-US" sz="1900" b="1"/>
          </a:p>
          <a:p>
            <a:pPr marL="76200" indent="0">
              <a:buNone/>
            </a:pPr>
            <a:endParaRPr lang="en-US" altLang="en-US" sz="1900"/>
          </a:p>
          <a:p>
            <a:pPr marL="76200" indent="0">
              <a:buNone/>
            </a:pPr>
            <a:r>
              <a:rPr lang="en-US" altLang="en-US" sz="1900" b="1"/>
              <a:t>Products:</a:t>
            </a:r>
            <a:r>
              <a:rPr lang="en-IN" altLang="en-US" sz="1900"/>
              <a:t> </a:t>
            </a:r>
            <a:r>
              <a:rPr lang="en-US" altLang="en-US" sz="1900"/>
              <a:t>Web-based AI Dementia Risk Screening Tool</a:t>
            </a:r>
            <a:r>
              <a:rPr lang="en-IN" altLang="en-US" sz="1900"/>
              <a:t>, </a:t>
            </a:r>
            <a:r>
              <a:rPr lang="en-US" altLang="en-US" sz="1900"/>
              <a:t>Speech and cognitive data analysis</a:t>
            </a:r>
            <a:r>
              <a:rPr lang="en-IN" altLang="en-US" sz="1900"/>
              <a:t>, </a:t>
            </a:r>
            <a:r>
              <a:rPr lang="en-US" altLang="en-US" sz="1900"/>
              <a:t>Secure and privacy-focused system</a:t>
            </a:r>
            <a:r>
              <a:rPr lang="en-IN" altLang="en-US" sz="1900"/>
              <a:t>, </a:t>
            </a:r>
            <a:r>
              <a:rPr lang="en-US" altLang="en-US" sz="1900"/>
              <a:t>Multilingual speech analysis models</a:t>
            </a:r>
            <a:r>
              <a:rPr lang="en-IN" altLang="en-US" sz="1900"/>
              <a:t>.</a:t>
            </a:r>
            <a:endParaRPr lang="en-US" altLang="en-US" sz="1900"/>
          </a:p>
          <a:p>
            <a:pPr marL="76200" indent="0">
              <a:buNone/>
            </a:pPr>
            <a:endParaRPr lang="en-US" altLang="en-US"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68288"/>
            <a:ext cx="10668000" cy="487500"/>
          </a:xfrm>
        </p:spPr>
        <p:txBody>
          <a:bodyPr/>
          <a:p>
            <a:r>
              <a:rPr lang="en-IN" altLang="en-US"/>
              <a:t>Chapter </a:t>
            </a:r>
            <a:r>
              <a:rPr lang="en-US" altLang="en-US"/>
              <a:t>2: Market Analysis – Stationery Market Trends and Online Competition</a:t>
            </a:r>
            <a:endParaRPr lang="en-US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1113790"/>
            <a:ext cx="10668000" cy="5471160"/>
          </a:xfrm>
        </p:spPr>
        <p:txBody>
          <a:bodyPr>
            <a:noAutofit/>
          </a:bodyPr>
          <a:p>
            <a:pPr marL="76200" indent="0">
              <a:buNone/>
            </a:pPr>
            <a:r>
              <a:rPr lang="zh-CN" altLang="en-US" sz="1700"/>
              <a:t>🔹</a:t>
            </a:r>
            <a:r>
              <a:rPr lang="en-US" altLang="en-US" sz="1700"/>
              <a:t> </a:t>
            </a:r>
            <a:r>
              <a:rPr lang="en-US" altLang="en-US" sz="1700" b="1"/>
              <a:t>Market Trends (Healthcare AI &amp; Dementia)</a:t>
            </a:r>
            <a:r>
              <a:rPr lang="en-IN" altLang="en-US" sz="1700"/>
              <a:t>:</a:t>
            </a:r>
            <a:endParaRPr lang="en-US" altLang="en-US" sz="1700"/>
          </a:p>
          <a:p>
            <a:pPr lvl="1"/>
            <a:r>
              <a:rPr lang="en-US" altLang="en-US" sz="1415"/>
              <a:t>Rising global dementia cases due to aging population.</a:t>
            </a:r>
            <a:endParaRPr lang="en-US" altLang="en-US" sz="1415"/>
          </a:p>
          <a:p>
            <a:pPr lvl="1"/>
            <a:r>
              <a:rPr lang="en-US" altLang="en-US" sz="1700"/>
              <a:t>Increasing demand for early-stage detection tools.</a:t>
            </a:r>
            <a:endParaRPr lang="en-US" altLang="en-US" sz="1700"/>
          </a:p>
          <a:p>
            <a:pPr lvl="1"/>
            <a:r>
              <a:rPr lang="en-US" altLang="en-US" sz="1700"/>
              <a:t>Rapid growth of AI in healthcare diagnostics.</a:t>
            </a:r>
            <a:endParaRPr lang="en-US" altLang="en-US" sz="1700"/>
          </a:p>
          <a:p>
            <a:pPr lvl="1"/>
            <a:r>
              <a:rPr lang="en-US" altLang="en-US" sz="1700"/>
              <a:t>Shift towards non-invasive and digital screening methods.</a:t>
            </a:r>
            <a:endParaRPr lang="en-US" altLang="en-US" sz="1700"/>
          </a:p>
          <a:p>
            <a:pPr lvl="1"/>
            <a:r>
              <a:rPr lang="en-US" altLang="en-US" sz="1700"/>
              <a:t>Expansion of telemedicine and remote monitoring.</a:t>
            </a:r>
            <a:endParaRPr lang="en-US" altLang="en-US" sz="1700"/>
          </a:p>
          <a:p>
            <a:pPr lvl="1"/>
            <a:r>
              <a:rPr lang="en-US" altLang="en-US" sz="1700"/>
              <a:t>Growing adoption of speech and behavioral biomarker analysis.</a:t>
            </a:r>
            <a:endParaRPr lang="en-US" altLang="en-US" sz="1700"/>
          </a:p>
          <a:p>
            <a:pPr lvl="1"/>
            <a:r>
              <a:rPr lang="en-US" altLang="en-US" sz="1700"/>
              <a:t>Higher investment in predictive and preventive healthcare technologies.</a:t>
            </a:r>
            <a:endParaRPr lang="en-US" altLang="en-US" sz="1700"/>
          </a:p>
          <a:p>
            <a:pPr marL="76200" indent="0">
              <a:buNone/>
            </a:pPr>
            <a:endParaRPr lang="zh-CN" altLang="en-US" sz="1700"/>
          </a:p>
          <a:p>
            <a:pPr marL="76200" indent="0">
              <a:buNone/>
            </a:pPr>
            <a:r>
              <a:rPr lang="zh-CN" altLang="en-US" sz="1700"/>
              <a:t>🔹</a:t>
            </a:r>
            <a:r>
              <a:rPr lang="en-US" altLang="en-US" sz="1700"/>
              <a:t> </a:t>
            </a:r>
            <a:r>
              <a:rPr lang="en-US" altLang="en-US" sz="1700" b="1"/>
              <a:t>Online Competition</a:t>
            </a:r>
            <a:r>
              <a:rPr lang="en-IN" altLang="en-US" sz="1700"/>
              <a:t>:</a:t>
            </a:r>
            <a:endParaRPr lang="en-US" altLang="en-US" sz="1700"/>
          </a:p>
          <a:p>
            <a:pPr marL="819150" lvl="1" indent="-285750"/>
            <a:r>
              <a:rPr lang="en-US" altLang="en-US" sz="1700"/>
              <a:t>Presence of AI-based cognitive screening startups</a:t>
            </a:r>
            <a:r>
              <a:rPr lang="en-IN" altLang="en-US" sz="1700"/>
              <a:t>.</a:t>
            </a:r>
            <a:endParaRPr lang="en-IN" altLang="en-US" sz="1700"/>
          </a:p>
          <a:p>
            <a:pPr marL="819150" lvl="1" indent="-285750"/>
            <a:r>
              <a:rPr lang="en-US" altLang="en-US" sz="1700"/>
              <a:t>Companies using imaging-based dementia detection models.</a:t>
            </a:r>
            <a:endParaRPr lang="en-US" altLang="en-US" sz="1700"/>
          </a:p>
          <a:p>
            <a:pPr marL="819150" lvl="1" indent="-285750"/>
            <a:r>
              <a:rPr lang="en-US" altLang="en-US" sz="1700"/>
              <a:t>Speech-analysis and digital biomarker competitors.</a:t>
            </a:r>
            <a:endParaRPr lang="en-US" altLang="en-US" sz="1700"/>
          </a:p>
          <a:p>
            <a:pPr marL="819150" lvl="1" indent="-285750"/>
            <a:r>
              <a:rPr lang="en-US" altLang="en-US" sz="1700"/>
              <a:t>Strong competition in accuracy and clinical validation.</a:t>
            </a:r>
            <a:endParaRPr lang="en-US" altLang="en-US" sz="1700"/>
          </a:p>
          <a:p>
            <a:pPr marL="819150" lvl="1" indent="-285750"/>
            <a:r>
              <a:rPr lang="en-US" altLang="en-US" sz="1700"/>
              <a:t>Need for regulatory approval and data privacy compliance.</a:t>
            </a:r>
            <a:endParaRPr lang="en-US" altLang="en-US" sz="1700"/>
          </a:p>
          <a:p>
            <a:pPr marL="819150" lvl="1" indent="-285750"/>
            <a:r>
              <a:rPr lang="en-US" altLang="en-US" sz="1700"/>
              <a:t>Differentiation required through real-time analysis and explainable AI.</a:t>
            </a:r>
            <a:endParaRPr lang="en-US" altLang="en-US"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ym typeface="+mn-ea"/>
              </a:rPr>
              <a:t>Chapter </a:t>
            </a:r>
            <a:r>
              <a:rPr lang="en-US" altLang="en-US"/>
              <a:t>3: Target Audience – </a:t>
            </a:r>
            <a:r>
              <a:rPr lang="en-IN" altLang="en-US"/>
              <a:t>Clinic’s/Hospital’s(Large-scale or small-scale)</a:t>
            </a:r>
            <a:endParaRPr lang="en-I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en-US" altLang="en-US" sz="2110"/>
              <a:t>Segment target audience into:</a:t>
            </a:r>
            <a:endParaRPr lang="en-US" altLang="en-US" sz="2110"/>
          </a:p>
          <a:p>
            <a:pPr marL="990600" lvl="1" indent="-457200">
              <a:buAutoNum type="arabicPeriod"/>
            </a:pPr>
            <a:r>
              <a:rPr lang="en-US" altLang="en-US" sz="2110"/>
              <a:t>Tier 1 Multi-specialty Hospitals</a:t>
            </a:r>
            <a:endParaRPr lang="en-US" altLang="en-US" sz="2110"/>
          </a:p>
          <a:p>
            <a:pPr marL="990600" lvl="1" indent="-457200">
              <a:buAutoNum type="arabicPeriod"/>
            </a:pPr>
            <a:r>
              <a:rPr lang="en-US" altLang="en-US" sz="2110"/>
              <a:t>Tier 2 Clinics</a:t>
            </a:r>
            <a:endParaRPr lang="en-US" altLang="en-US" sz="2110"/>
          </a:p>
          <a:p>
            <a:pPr marL="990600" lvl="1" indent="-457200">
              <a:buAutoNum type="arabicPeriod"/>
            </a:pPr>
            <a:r>
              <a:rPr lang="en-US" altLang="en-US" sz="2110"/>
              <a:t>Rural Health Centers</a:t>
            </a:r>
            <a:endParaRPr lang="en-US" altLang="en-US" sz="2110"/>
          </a:p>
          <a:p>
            <a:pPr marL="990600" lvl="1" indent="-457200">
              <a:buAutoNum type="arabicPeriod"/>
            </a:pPr>
            <a:r>
              <a:rPr lang="en-US" altLang="en-US" sz="2110"/>
              <a:t>Telemedicine Platforms</a:t>
            </a:r>
            <a:endParaRPr lang="en-US" altLang="en-US" sz="2110"/>
          </a:p>
          <a:p>
            <a:pPr marL="76200" indent="0">
              <a:buNone/>
            </a:pPr>
            <a:endParaRPr lang="en-US" altLang="en-US" sz="2110"/>
          </a:p>
          <a:p>
            <a:r>
              <a:rPr lang="en-US" altLang="en-US" sz="2110"/>
              <a:t>Offer flexible pricing models:</a:t>
            </a:r>
            <a:endParaRPr lang="en-US" altLang="en-US" sz="2110"/>
          </a:p>
          <a:p>
            <a:pPr marL="990600" lvl="1" indent="-457200">
              <a:buAutoNum type="arabicPeriod"/>
            </a:pPr>
            <a:r>
              <a:rPr lang="en-US" altLang="en-US" sz="2110"/>
              <a:t>SaaS subscription</a:t>
            </a:r>
            <a:endParaRPr lang="en-US" altLang="en-US" sz="2110"/>
          </a:p>
          <a:p>
            <a:pPr marL="990600" lvl="1" indent="-457200">
              <a:buAutoNum type="arabicPeriod"/>
            </a:pPr>
            <a:r>
              <a:rPr lang="en-US" altLang="en-US" sz="2110"/>
              <a:t>Per-test pricing</a:t>
            </a:r>
            <a:endParaRPr lang="en-US" altLang="en-US" sz="2110"/>
          </a:p>
          <a:p>
            <a:pPr marL="990600" lvl="1" indent="-457200">
              <a:buAutoNum type="arabicPeriod"/>
            </a:pPr>
            <a:r>
              <a:rPr lang="en-US" altLang="en-US" sz="2110"/>
              <a:t>Enterprise licensing</a:t>
            </a:r>
            <a:endParaRPr lang="en-US" altLang="en-US" sz="2110"/>
          </a:p>
          <a:p>
            <a:pPr marL="76200" indent="0">
              <a:buNone/>
            </a:pPr>
            <a:endParaRPr lang="en-US" altLang="en-US" sz="2110"/>
          </a:p>
          <a:p>
            <a:r>
              <a:rPr lang="en-US" altLang="en-US" sz="2110"/>
              <a:t>Enable integration with:</a:t>
            </a:r>
            <a:endParaRPr lang="en-US" altLang="en-US" sz="2110"/>
          </a:p>
          <a:p>
            <a:pPr marL="990600" lvl="1" indent="-457200">
              <a:buAutoNum type="arabicPeriod"/>
            </a:pPr>
            <a:r>
              <a:rPr lang="en-US" altLang="en-US" sz="2110"/>
              <a:t>Hospital Management Systems (HMS)</a:t>
            </a:r>
            <a:endParaRPr lang="en-US" altLang="en-US" sz="2110"/>
          </a:p>
          <a:p>
            <a:pPr marL="990600" lvl="1" indent="-457200">
              <a:buAutoNum type="arabicPeriod"/>
            </a:pPr>
            <a:r>
              <a:rPr lang="en-US" altLang="en-US" sz="2110"/>
              <a:t>Electronic Health Records (EHR)</a:t>
            </a:r>
            <a:endParaRPr lang="en-US" altLang="en-US" sz="211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ym typeface="+mn-ea"/>
              </a:rPr>
              <a:t>Chapter 4</a:t>
            </a:r>
            <a:r>
              <a:rPr lang="en-US" altLang="en-US"/>
              <a:t>: Marketing – </a:t>
            </a:r>
            <a:r>
              <a:rPr lang="en-IN" altLang="en-US"/>
              <a:t>Media, E-Mail, </a:t>
            </a:r>
            <a:r>
              <a:rPr lang="en-US" altLang="en-US"/>
              <a:t>Campaigns, Influencer Reach</a:t>
            </a:r>
            <a:r>
              <a:rPr lang="en-IN" altLang="en-US"/>
              <a:t>, Customer Services, Newsletters</a:t>
            </a:r>
            <a:endParaRPr lang="en-I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1085215"/>
            <a:ext cx="10668000" cy="5229860"/>
          </a:xfrm>
        </p:spPr>
        <p:txBody>
          <a:bodyPr>
            <a:noAutofit/>
          </a:bodyPr>
          <a:p>
            <a:pPr marL="76200" indent="0">
              <a:buNone/>
            </a:pPr>
            <a:r>
              <a:rPr lang="en-US" altLang="en-US" sz="1900" b="1"/>
              <a:t>Media</a:t>
            </a:r>
            <a:endParaRPr lang="en-US" altLang="en-US" sz="1900" b="1"/>
          </a:p>
          <a:p>
            <a:r>
              <a:rPr lang="en-US" altLang="en-US" sz="1900"/>
              <a:t>Publish healthcare-focused press releases and research articles.</a:t>
            </a:r>
            <a:endParaRPr lang="en-US" altLang="en-US" sz="1900"/>
          </a:p>
          <a:p>
            <a:pPr marL="76200" indent="0">
              <a:buNone/>
            </a:pPr>
            <a:r>
              <a:rPr lang="en-US" altLang="en-US" sz="1900" b="1"/>
              <a:t>Social Media</a:t>
            </a:r>
            <a:endParaRPr lang="en-US" altLang="en-US" sz="1900"/>
          </a:p>
          <a:p>
            <a:r>
              <a:rPr lang="en-US" altLang="en-US" sz="1900"/>
              <a:t>Use LinkedIn to target doctors, hospitals, and healthcare professionals.</a:t>
            </a:r>
            <a:endParaRPr lang="en-US" altLang="en-US" sz="1900"/>
          </a:p>
          <a:p>
            <a:pPr marL="76200" indent="0">
              <a:buNone/>
            </a:pPr>
            <a:r>
              <a:rPr lang="en-US" altLang="en-US" sz="1900" b="1"/>
              <a:t>Newsletters</a:t>
            </a:r>
            <a:endParaRPr lang="en-US" altLang="en-US" sz="1900" b="1"/>
          </a:p>
          <a:p>
            <a:r>
              <a:rPr lang="en-US" altLang="en-US" sz="1900"/>
              <a:t>Send monthly updates on AI advancements and dementia research insights.</a:t>
            </a:r>
            <a:endParaRPr lang="en-US" altLang="en-US" sz="1900"/>
          </a:p>
          <a:p>
            <a:pPr marL="76200" indent="0">
              <a:buNone/>
            </a:pPr>
            <a:r>
              <a:rPr lang="en-US" altLang="en-US" sz="1900" b="1"/>
              <a:t>E-mails</a:t>
            </a:r>
            <a:endParaRPr lang="en-US" altLang="en-US" sz="1900" b="1"/>
          </a:p>
          <a:p>
            <a:r>
              <a:rPr lang="en-US" altLang="en-US" sz="1900"/>
              <a:t>Run targeted email campaigns offering demos and product information.</a:t>
            </a:r>
            <a:endParaRPr lang="en-US" altLang="en-US" sz="1900"/>
          </a:p>
          <a:p>
            <a:pPr marL="76200" indent="0">
              <a:buNone/>
            </a:pPr>
            <a:r>
              <a:rPr lang="en-US" altLang="en-US" sz="1900" b="1"/>
              <a:t>Influencer Reach</a:t>
            </a:r>
            <a:endParaRPr lang="en-US" altLang="en-US" sz="1900" b="1"/>
          </a:p>
          <a:p>
            <a:r>
              <a:rPr lang="en-US" altLang="en-US" sz="1900"/>
              <a:t>Collaborate with healthcare experts and AI thought leaders for credibility.</a:t>
            </a:r>
            <a:endParaRPr lang="en-US" altLang="en-US" sz="1900"/>
          </a:p>
          <a:p>
            <a:pPr marL="76200" indent="0">
              <a:buNone/>
            </a:pPr>
            <a:r>
              <a:rPr lang="en-US" altLang="en-US" sz="1900" b="1"/>
              <a:t>Customer Services</a:t>
            </a:r>
            <a:endParaRPr lang="en-US" altLang="en-US" sz="1900" b="1"/>
          </a:p>
          <a:p>
            <a:r>
              <a:rPr lang="en-US" altLang="en-US" sz="1900"/>
              <a:t>Provide dedicated technical support and training for institutional users.</a:t>
            </a:r>
            <a:endParaRPr lang="en-US" altLang="en-US" sz="1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ym typeface="+mn-ea"/>
              </a:rPr>
              <a:t>Chapter 5</a:t>
            </a:r>
            <a:r>
              <a:rPr lang="en-US" altLang="en-US"/>
              <a:t>: Analytics &amp; ROI – Using Data-Driven Insights for Improvement</a:t>
            </a:r>
            <a:endParaRPr lang="en-US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en-US" sz="1900"/>
              <a:t>Develop advanced analytics dashboard showing:</a:t>
            </a:r>
            <a:endParaRPr lang="en-US" altLang="en-US" sz="1900"/>
          </a:p>
          <a:p>
            <a:pPr lvl="3"/>
            <a:r>
              <a:rPr lang="en-US" altLang="en-US" sz="1900"/>
              <a:t>Model accuracy</a:t>
            </a:r>
            <a:endParaRPr lang="en-US" altLang="en-US" sz="1900"/>
          </a:p>
          <a:p>
            <a:pPr lvl="3"/>
            <a:r>
              <a:rPr lang="en-US" altLang="en-US" sz="1900"/>
              <a:t>False positives/negatives</a:t>
            </a:r>
            <a:endParaRPr lang="en-US" altLang="en-US" sz="1900"/>
          </a:p>
          <a:p>
            <a:pPr lvl="3"/>
            <a:r>
              <a:rPr lang="en-US" altLang="en-US" sz="1900"/>
              <a:t>Risk classification trends</a:t>
            </a:r>
            <a:endParaRPr lang="en-US" altLang="en-US" sz="1900"/>
          </a:p>
          <a:p>
            <a:r>
              <a:rPr lang="en-US" altLang="en-US" sz="1900"/>
              <a:t>Implement continuous model retraining with anonymized datasets.</a:t>
            </a:r>
            <a:endParaRPr lang="en-US" altLang="en-US" sz="1900"/>
          </a:p>
          <a:p>
            <a:r>
              <a:rPr lang="en-US" altLang="en-US" sz="1900"/>
              <a:t>Demonstrate ROI through:</a:t>
            </a:r>
            <a:endParaRPr lang="en-US" altLang="en-US" sz="1900"/>
          </a:p>
          <a:p>
            <a:pPr lvl="3"/>
            <a:r>
              <a:rPr lang="en-US" altLang="en-US" sz="1900"/>
              <a:t>Reduced diagnosis time</a:t>
            </a:r>
            <a:endParaRPr lang="en-US" altLang="en-US" sz="1900"/>
          </a:p>
          <a:p>
            <a:pPr lvl="3"/>
            <a:r>
              <a:rPr lang="en-US" altLang="en-US" sz="1900"/>
              <a:t>Increased patient throughput</a:t>
            </a:r>
            <a:endParaRPr lang="en-US" altLang="en-US" sz="1900"/>
          </a:p>
          <a:p>
            <a:pPr lvl="3"/>
            <a:r>
              <a:rPr lang="en-US" altLang="en-US" sz="1900"/>
              <a:t>Lower cost per screening</a:t>
            </a:r>
            <a:endParaRPr lang="en-US" altLang="en-US" sz="1900"/>
          </a:p>
          <a:p>
            <a:r>
              <a:rPr lang="en-US" altLang="en-US" sz="1900"/>
              <a:t>Introduce predictive analytics for disease progression tracking.</a:t>
            </a:r>
            <a:endParaRPr lang="en-US" altLang="en-US" sz="1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ym typeface="+mn-ea"/>
              </a:rPr>
              <a:t>Chapter 6</a:t>
            </a:r>
            <a:r>
              <a:rPr lang="en-US" altLang="en-US"/>
              <a:t>: Conclusion &amp; Future Roadmap – Scaling </a:t>
            </a:r>
            <a:br>
              <a:rPr lang="en-US" altLang="en-US"/>
            </a:br>
            <a:r>
              <a:rPr lang="en-US" altLang="en-US"/>
              <a:t>Sales</a:t>
            </a:r>
            <a:r>
              <a:rPr lang="en-IN" altLang="en-US"/>
              <a:t>, De</a:t>
            </a:r>
            <a:r>
              <a:rPr lang="en-US" altLang="en-US"/>
              <a:t>ployment Growth</a:t>
            </a:r>
            <a:r>
              <a:rPr lang="en-IN" altLang="en-US"/>
              <a:t> and Increasing Accuracy</a:t>
            </a:r>
            <a:endParaRPr lang="en-I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pPr marL="76200" indent="0">
              <a:buNone/>
            </a:pPr>
            <a:r>
              <a:rPr lang="en-US" altLang="en-US" sz="1900" b="1"/>
              <a:t>Conclusion:</a:t>
            </a:r>
            <a:endParaRPr lang="en-US" altLang="en-US" sz="1900" b="1"/>
          </a:p>
          <a:p>
            <a:pPr marL="76200" indent="0">
              <a:buNone/>
            </a:pPr>
            <a:endParaRPr lang="en-US" altLang="en-US" sz="1900" b="1"/>
          </a:p>
          <a:p>
            <a:pPr lvl="1">
              <a:lnSpc>
                <a:spcPct val="70000"/>
              </a:lnSpc>
            </a:pPr>
            <a:r>
              <a:rPr lang="en-US" altLang="en-US" sz="1900"/>
              <a:t>Conduct large-scale clinical pilot studies.</a:t>
            </a:r>
            <a:endParaRPr lang="en-US" altLang="en-US" sz="1900"/>
          </a:p>
          <a:p>
            <a:pPr>
              <a:lnSpc>
                <a:spcPct val="70000"/>
              </a:lnSpc>
            </a:pPr>
            <a:endParaRPr lang="en-US" altLang="en-US" sz="1900"/>
          </a:p>
          <a:p>
            <a:pPr lvl="1">
              <a:lnSpc>
                <a:spcPct val="70000"/>
              </a:lnSpc>
            </a:pPr>
            <a:r>
              <a:rPr lang="en-US" altLang="en-US" sz="1900"/>
              <a:t>Increase dataset size to improve accuracy beyond 90%.</a:t>
            </a:r>
            <a:endParaRPr lang="en-US" altLang="en-US" sz="1900"/>
          </a:p>
          <a:p>
            <a:pPr>
              <a:lnSpc>
                <a:spcPct val="70000"/>
              </a:lnSpc>
            </a:pPr>
            <a:endParaRPr lang="en-US" altLang="en-US" sz="1900"/>
          </a:p>
          <a:p>
            <a:pPr lvl="1">
              <a:lnSpc>
                <a:spcPct val="70000"/>
              </a:lnSpc>
            </a:pPr>
            <a:r>
              <a:rPr lang="en-US" altLang="en-US" sz="1900"/>
              <a:t>Expand to mobile-based real-time speech analysis.</a:t>
            </a:r>
            <a:endParaRPr lang="en-US" altLang="en-US" sz="1900"/>
          </a:p>
          <a:p>
            <a:pPr>
              <a:lnSpc>
                <a:spcPct val="70000"/>
              </a:lnSpc>
            </a:pPr>
            <a:endParaRPr lang="en-US" altLang="en-US" sz="1900"/>
          </a:p>
          <a:p>
            <a:pPr lvl="1">
              <a:lnSpc>
                <a:spcPct val="70000"/>
              </a:lnSpc>
            </a:pPr>
            <a:r>
              <a:rPr lang="en-US" altLang="en-US" sz="1900"/>
              <a:t>Deploy in 50+ clinics within 3 years.</a:t>
            </a:r>
            <a:endParaRPr lang="en-US" altLang="en-US" sz="1900"/>
          </a:p>
          <a:p>
            <a:pPr>
              <a:lnSpc>
                <a:spcPct val="70000"/>
              </a:lnSpc>
            </a:pPr>
            <a:endParaRPr lang="en-US" altLang="en-US" sz="1900"/>
          </a:p>
          <a:p>
            <a:pPr lvl="1">
              <a:lnSpc>
                <a:spcPct val="70000"/>
              </a:lnSpc>
            </a:pPr>
            <a:r>
              <a:rPr lang="en-US" altLang="en-US" sz="1900"/>
              <a:t>Pursue international healthcare regulatory approval.</a:t>
            </a:r>
            <a:endParaRPr lang="en-US" altLang="en-US" sz="1900"/>
          </a:p>
          <a:p>
            <a:pPr>
              <a:lnSpc>
                <a:spcPct val="70000"/>
              </a:lnSpc>
            </a:pPr>
            <a:endParaRPr lang="en-US" altLang="en-US" sz="1900"/>
          </a:p>
          <a:p>
            <a:pPr lvl="1">
              <a:lnSpc>
                <a:spcPct val="70000"/>
              </a:lnSpc>
            </a:pPr>
            <a:r>
              <a:rPr lang="en-US" altLang="en-US" sz="1900"/>
              <a:t>Integrate wearable cognitive monitoring devices in future.</a:t>
            </a:r>
            <a:endParaRPr lang="en-US" altLang="en-US" sz="1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Architectural Diagram</a:t>
            </a:r>
            <a:endParaRPr lang="en-I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76200" indent="0">
              <a:buNone/>
            </a:pPr>
            <a:endParaRPr lang="en-I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435" y="1006475"/>
            <a:ext cx="10839450" cy="5090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Modules</a:t>
            </a:r>
            <a:endParaRPr lang="en-I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IN" altLang="en-US"/>
              <a:t>NumPy</a:t>
            </a:r>
            <a:endParaRPr lang="en-IN" altLang="en-US"/>
          </a:p>
          <a:p>
            <a:r>
              <a:rPr lang="en-IN" altLang="en-US"/>
              <a:t>flask</a:t>
            </a:r>
            <a:endParaRPr lang="en-IN" altLang="en-US"/>
          </a:p>
          <a:p>
            <a:r>
              <a:rPr lang="en-IN" altLang="en-US"/>
              <a:t>pandas</a:t>
            </a:r>
            <a:endParaRPr lang="en-IN" altLang="en-US"/>
          </a:p>
          <a:p>
            <a:r>
              <a:rPr lang="en-IN" altLang="en-US"/>
              <a:t>scikit-learn</a:t>
            </a:r>
            <a:endParaRPr lang="en-IN" altLang="en-US"/>
          </a:p>
          <a:p>
            <a:r>
              <a:rPr lang="en-IN" altLang="en-US"/>
              <a:t>joblib</a:t>
            </a:r>
            <a:endParaRPr lang="en-I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Hardware &amp; Software Details</a:t>
            </a:r>
            <a:endParaRPr lang="en-I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0000"/>
          </a:bodyPr>
          <a:p>
            <a:pPr marL="76200" indent="0">
              <a:buNone/>
            </a:pPr>
            <a:r>
              <a:rPr lang="en-IN" altLang="en-US" b="1" u="sng"/>
              <a:t>Hardware</a:t>
            </a:r>
            <a:r>
              <a:rPr lang="en-IN" altLang="en-US" b="1"/>
              <a:t>:</a:t>
            </a:r>
            <a:endParaRPr lang="en-IN" altLang="en-US" b="1"/>
          </a:p>
          <a:p>
            <a:pPr marL="76200" indent="0">
              <a:buNone/>
            </a:pPr>
            <a:r>
              <a:rPr lang="en-US" altLang="en-US"/>
              <a:t>Processor: Intel Core 2 Quad Q6600 @ 2.40GHz / AMD Phenom 9850 Quad-Core @ 2.5GHz</a:t>
            </a:r>
            <a:endParaRPr lang="en-US" altLang="en-US"/>
          </a:p>
          <a:p>
            <a:pPr marL="76200" indent="0">
              <a:buNone/>
            </a:pPr>
            <a:r>
              <a:rPr lang="en-US" altLang="en-US"/>
              <a:t>Memory (RAM): 4GB (8GB recommended to avoid stuttering)</a:t>
            </a:r>
            <a:endParaRPr lang="en-US" altLang="en-US"/>
          </a:p>
          <a:p>
            <a:pPr marL="76200" indent="0">
              <a:buNone/>
            </a:pPr>
            <a:r>
              <a:rPr lang="en-US" altLang="en-US"/>
              <a:t>Graphics (GPU): NVIDIA 9800 GT 1GB / AMD HD 4870 1GB</a:t>
            </a:r>
            <a:endParaRPr lang="en-US" altLang="en-US"/>
          </a:p>
          <a:p>
            <a:pPr marL="76200" indent="0">
              <a:buNone/>
            </a:pPr>
            <a:r>
              <a:rPr lang="en-US" altLang="en-US"/>
              <a:t>Storage: ~100GB+ HDD</a:t>
            </a:r>
            <a:endParaRPr lang="en-US" altLang="en-US"/>
          </a:p>
          <a:p>
            <a:pPr marL="76200" indent="0">
              <a:buNone/>
            </a:pPr>
            <a:r>
              <a:rPr lang="en-US" altLang="en-US"/>
              <a:t>OS: Windows 10 64 Bit</a:t>
            </a:r>
            <a:endParaRPr lang="en-US" altLang="en-US"/>
          </a:p>
          <a:p>
            <a:pPr marL="76200" indent="0">
              <a:buNone/>
            </a:pPr>
            <a:endParaRPr lang="en-US" altLang="en-US"/>
          </a:p>
          <a:p>
            <a:pPr marL="76200" indent="0">
              <a:buNone/>
            </a:pPr>
            <a:r>
              <a:rPr lang="en-IN" altLang="en-US" b="1" u="sng"/>
              <a:t>Software</a:t>
            </a:r>
            <a:r>
              <a:rPr lang="en-IN" altLang="en-US" b="1"/>
              <a:t>:</a:t>
            </a:r>
            <a:endParaRPr lang="en-IN" altLang="en-US" b="1"/>
          </a:p>
          <a:p>
            <a:pPr marL="76200" indent="0">
              <a:buNone/>
            </a:pPr>
            <a:r>
              <a:rPr lang="en-IN" altLang="en-US"/>
              <a:t>Web : </a:t>
            </a:r>
            <a:r>
              <a:rPr lang="en-US" altLang="en-US"/>
              <a:t>HTML5, CSS3, JavaScript, </a:t>
            </a:r>
            <a:r>
              <a:rPr lang="en-IN" altLang="en-US"/>
              <a:t>Bootstrap</a:t>
            </a:r>
            <a:endParaRPr lang="en-US" altLang="en-US"/>
          </a:p>
          <a:p>
            <a:pPr marL="76200" indent="0">
              <a:buNone/>
            </a:pPr>
            <a:r>
              <a:rPr lang="en-IN" altLang="en-US"/>
              <a:t>Backend : </a:t>
            </a:r>
            <a:r>
              <a:rPr lang="en-US" altLang="en-US"/>
              <a:t>PHP / Python Django</a:t>
            </a:r>
            <a:endParaRPr lang="en-US" altLang="en-US"/>
          </a:p>
          <a:p>
            <a:pPr marL="76200" indent="0">
              <a:buNone/>
            </a:pPr>
            <a:r>
              <a:rPr lang="en-IN" altLang="en-US"/>
              <a:t>Database :</a:t>
            </a:r>
            <a:r>
              <a:rPr lang="en-US" altLang="en-US"/>
              <a:t>MySQL</a:t>
            </a:r>
            <a:r>
              <a:rPr lang="en-IN" altLang="en-US"/>
              <a:t> </a:t>
            </a:r>
            <a:r>
              <a:rPr lang="en-US" altLang="en-US"/>
              <a:t>/</a:t>
            </a:r>
            <a:r>
              <a:rPr lang="en-IN" altLang="en-US"/>
              <a:t> </a:t>
            </a:r>
            <a:r>
              <a:rPr lang="en-US" altLang="en-US"/>
              <a:t>MongoDB</a:t>
            </a:r>
            <a:endParaRPr lang="en-US" altLang="en-US"/>
          </a:p>
          <a:p>
            <a:pPr marL="76200" indent="0">
              <a:buNone/>
            </a:pPr>
            <a:endParaRPr lang="en-IN" altLang="en-US"/>
          </a:p>
          <a:p>
            <a:pPr marL="76200" indent="0">
              <a:buNone/>
            </a:pPr>
            <a:endParaRPr lang="en-IN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4100830" y="-35306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/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/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  <a:r>
              <a:rPr lang="en-IN" altLang="en-US" b="1" dirty="0" smtClean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:</a:t>
            </a:r>
            <a:endParaRPr lang="en-US" b="1" dirty="0" smtClean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r>
              <a:rPr lang="en-US" dirty="0">
                <a:solidFill>
                  <a:schemeClr val="accent1"/>
                </a:solidFill>
                <a:sym typeface="+mn-ea"/>
              </a:rPr>
              <a:t>https://github.com/dexty8147/AI-TOOL-FOR-EARLY-STAGE-DIMENTIA-DETECTION.git</a:t>
            </a:r>
            <a:endParaRPr lang="en-US" dirty="0">
              <a:solidFill>
                <a:schemeClr val="accent1"/>
              </a:solidFill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alt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29806" y="1306093"/>
          <a:ext cx="5410200" cy="461962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52550"/>
                <a:gridCol w="1352550"/>
                <a:gridCol w="1352550"/>
                <a:gridCol w="1352550"/>
              </a:tblGrid>
              <a:tr h="685800"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PHASE</a:t>
                      </a:r>
                      <a:endParaRPr lang="en-US">
                        <a:effectLst/>
                      </a:endParaRPr>
                    </a:p>
                  </a:txBody>
                  <a:tcPr marT="4000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3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ACTIVITY</a:t>
                      </a:r>
                      <a:endParaRPr lang="en-US">
                        <a:effectLst/>
                      </a:endParaRPr>
                    </a:p>
                  </a:txBody>
                  <a:tcPr marT="4000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3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START DATE</a:t>
                      </a:r>
                      <a:endParaRPr lang="en-US">
                        <a:effectLst/>
                      </a:endParaRPr>
                    </a:p>
                  </a:txBody>
                  <a:tcPr marT="4000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3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END DATE</a:t>
                      </a:r>
                      <a:endParaRPr lang="en-US">
                        <a:effectLst/>
                      </a:endParaRPr>
                    </a:p>
                  </a:txBody>
                  <a:tcPr marT="4000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3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</a:tr>
              <a:tr h="1057275"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Arial" panose="020B0604020202020204" pitchFamily="34" charset="0"/>
                        </a:rPr>
                        <a:t>Review-1</a:t>
                      </a:r>
                      <a:endParaRPr lang="en-US">
                        <a:effectLst/>
                      </a:endParaRPr>
                    </a:p>
                  </a:txBody>
                  <a:tcPr marT="4000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3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 MT"/>
                        </a:rPr>
                        <a:t>Problem statement and objectives</a:t>
                      </a:r>
                      <a:endParaRPr lang="en-US">
                        <a:effectLst/>
                      </a:endParaRPr>
                    </a:p>
                  </a:txBody>
                  <a:tcPr marT="4000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3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 MT"/>
                        </a:rPr>
                        <a:t>10-01-2026</a:t>
                      </a:r>
                      <a:endParaRPr lang="en-US">
                        <a:effectLst/>
                      </a:endParaRPr>
                    </a:p>
                  </a:txBody>
                  <a:tcPr marT="4000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3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 MT"/>
                        </a:rPr>
                        <a:t>16-01-2026</a:t>
                      </a:r>
                      <a:endParaRPr lang="en-US">
                        <a:effectLst/>
                      </a:endParaRPr>
                    </a:p>
                  </a:txBody>
                  <a:tcPr marT="4000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3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Arial" panose="020B0604020202020204" pitchFamily="34" charset="0"/>
                        </a:rPr>
                        <a:t>Review-2</a:t>
                      </a:r>
                      <a:endParaRPr lang="en-US">
                        <a:effectLst/>
                      </a:endParaRPr>
                    </a:p>
                  </a:txBody>
                  <a:tcPr marT="40634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 MT"/>
                        </a:rPr>
                        <a:t>Literature review and model design</a:t>
                      </a:r>
                      <a:endParaRPr lang="en-US">
                        <a:effectLst/>
                      </a:endParaRPr>
                    </a:p>
                  </a:txBody>
                  <a:tcPr marT="40634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 MT"/>
                        </a:rPr>
                        <a:t>31-01-2026</a:t>
                      </a:r>
                      <a:endParaRPr lang="en-US">
                        <a:effectLst/>
                      </a:endParaRPr>
                    </a:p>
                  </a:txBody>
                  <a:tcPr marT="40634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 MT"/>
                        </a:rPr>
                        <a:t>06-02-2026</a:t>
                      </a:r>
                      <a:endParaRPr lang="en-US">
                        <a:effectLst/>
                      </a:endParaRPr>
                    </a:p>
                  </a:txBody>
                  <a:tcPr marT="40634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Arial" panose="020B0604020202020204" pitchFamily="34" charset="0"/>
                        </a:rPr>
                        <a:t>Review-3</a:t>
                      </a:r>
                      <a:endParaRPr lang="en-US">
                        <a:effectLst/>
                      </a:endParaRPr>
                    </a:p>
                  </a:txBody>
                  <a:tcPr marT="40634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 MT"/>
                        </a:rPr>
                        <a:t>Development and progress</a:t>
                      </a:r>
                      <a:endParaRPr lang="en-US">
                        <a:effectLst/>
                      </a:endParaRPr>
                    </a:p>
                  </a:txBody>
                  <a:tcPr marT="40634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 MT"/>
                        </a:rPr>
                        <a:t>28-02-2026</a:t>
                      </a:r>
                      <a:endParaRPr lang="en-US">
                        <a:effectLst/>
                      </a:endParaRPr>
                    </a:p>
                  </a:txBody>
                  <a:tcPr marT="40634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 MT"/>
                        </a:rPr>
                        <a:t>06-03-2026</a:t>
                      </a:r>
                      <a:endParaRPr lang="en-US">
                        <a:effectLst/>
                      </a:endParaRPr>
                    </a:p>
                  </a:txBody>
                  <a:tcPr marT="40634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Arial" panose="020B0604020202020204" pitchFamily="34" charset="0"/>
                        </a:rPr>
                        <a:t>Review-4</a:t>
                      </a:r>
                      <a:endParaRPr lang="en-US">
                        <a:effectLst/>
                      </a:endParaRPr>
                    </a:p>
                  </a:txBody>
                  <a:tcPr marT="41272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 MT"/>
                        </a:rPr>
                        <a:t>Testing and final progress</a:t>
                      </a:r>
                      <a:endParaRPr lang="en-US">
                        <a:effectLst/>
                      </a:endParaRPr>
                    </a:p>
                  </a:txBody>
                  <a:tcPr marT="41272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 MT"/>
                        </a:rPr>
                        <a:t>03-04-2026</a:t>
                      </a:r>
                      <a:endParaRPr lang="en-US">
                        <a:effectLst/>
                      </a:endParaRPr>
                    </a:p>
                  </a:txBody>
                  <a:tcPr marT="41272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 MT"/>
                        </a:rPr>
                        <a:t>09-04-2026</a:t>
                      </a:r>
                      <a:endParaRPr lang="en-US">
                        <a:effectLst/>
                      </a:endParaRPr>
                    </a:p>
                  </a:txBody>
                  <a:tcPr marT="41272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Arial" panose="020B0604020202020204" pitchFamily="34" charset="0"/>
                        </a:rPr>
                        <a:t>Final Viva</a:t>
                      </a:r>
                      <a:endParaRPr lang="en-US">
                        <a:effectLst/>
                      </a:endParaRPr>
                    </a:p>
                  </a:txBody>
                  <a:tcPr marT="41272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 MT"/>
                        </a:rPr>
                        <a:t>Submission and viva</a:t>
                      </a:r>
                      <a:endParaRPr lang="en-US">
                        <a:effectLst/>
                      </a:endParaRPr>
                    </a:p>
                  </a:txBody>
                  <a:tcPr marT="41272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 MT"/>
                        </a:rPr>
                        <a:t>20-04-2026</a:t>
                      </a:r>
                      <a:endParaRPr lang="en-US">
                        <a:effectLst/>
                      </a:endParaRPr>
                    </a:p>
                  </a:txBody>
                  <a:tcPr marT="41272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 MT"/>
                        </a:rPr>
                        <a:t>26-04-2026</a:t>
                      </a:r>
                      <a:endParaRPr lang="en-US">
                        <a:effectLst/>
                      </a:endParaRPr>
                    </a:p>
                  </a:txBody>
                  <a:tcPr marT="41272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</a:tr>
            </a:tbl>
          </a:graphicData>
        </a:graphic>
      </p:graphicFrame>
      <p:pic>
        <p:nvPicPr>
          <p:cNvPr id="2" name="Picture 1" descr="A graph with different colored bars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6911" y="1148212"/>
            <a:ext cx="5581650" cy="47053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009650"/>
            <a:ext cx="10995660" cy="5172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0000"/>
          </a:bodyPr>
          <a:lstStyle/>
          <a:p>
            <a:pPr marL="12700" indent="0" algn="l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500" dirty="0">
                <a:latin typeface="Verdana" panose="020B0604030504040204" charset="0"/>
                <a:cs typeface="Verdana" panose="020B0604030504040204" charset="0"/>
                <a:sym typeface="+mn-ea"/>
              </a:rPr>
              <a:t>[1]. World Health Organization(WHO), “Dementia – Key Facts,” WHO, 2023.</a:t>
            </a:r>
            <a:r>
              <a:rPr lang="en-US" sz="2500" dirty="0">
                <a:solidFill>
                  <a:srgbClr val="0000FF"/>
                </a:solidFill>
                <a:latin typeface="Verdana" panose="020B0604030504040204" charset="0"/>
                <a:cs typeface="Verdana" panose="020B0604030504040204" charset="0"/>
                <a:sym typeface="+mn-ea"/>
                <a:hlinkClick r:id="rId1"/>
              </a:rPr>
              <a:t>https://www.who.int/news-room/fact-sheets/detail/dementia</a:t>
            </a:r>
            <a:endParaRPr lang="en-US" sz="2500" dirty="0">
              <a:latin typeface="Verdana" panose="020B0604030504040204" charset="0"/>
              <a:cs typeface="Verdana" panose="020B0604030504040204" charset="0"/>
            </a:endParaRPr>
          </a:p>
          <a:p>
            <a:pPr marL="12700" indent="0" algn="l">
              <a:lnSpc>
                <a:spcPct val="100000"/>
              </a:lnSpc>
              <a:spcBef>
                <a:spcPts val="495"/>
              </a:spcBef>
              <a:buNone/>
            </a:pPr>
            <a:r>
              <a:rPr lang="en-US" sz="2500" dirty="0">
                <a:latin typeface="Verdana" panose="020B0604030504040204" charset="0"/>
                <a:cs typeface="Verdana" panose="020B0604030504040204" charset="0"/>
                <a:sym typeface="+mn-ea"/>
              </a:rPr>
              <a:t>[2]. Alzheimer’s Association, “What Is Dementia?,” Alzheimer’s Association, 2024.</a:t>
            </a:r>
            <a:r>
              <a:rPr lang="en-US" sz="2500" dirty="0">
                <a:solidFill>
                  <a:srgbClr val="0000FF"/>
                </a:solidFill>
                <a:latin typeface="Verdana" panose="020B0604030504040204" charset="0"/>
                <a:cs typeface="Verdana" panose="020B0604030504040204" charset="0"/>
                <a:sym typeface="+mn-ea"/>
                <a:hlinkClick r:id="rId2"/>
              </a:rPr>
              <a:t>https://www.alz.org/alzheimers-dementia/what-is-dementia</a:t>
            </a:r>
            <a:endParaRPr lang="en-US" sz="2500" dirty="0">
              <a:latin typeface="Verdana" panose="020B0604030504040204" charset="0"/>
              <a:cs typeface="Verdana" panose="020B0604030504040204" charset="0"/>
            </a:endParaRPr>
          </a:p>
          <a:p>
            <a:pPr marL="393700" marR="5080" indent="-381635" algn="l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sz="2500" dirty="0">
                <a:latin typeface="Verdana" panose="020B0604030504040204" charset="0"/>
                <a:cs typeface="Verdana" panose="020B0604030504040204" charset="0"/>
                <a:sym typeface="+mn-ea"/>
              </a:rPr>
              <a:t>[3]. M. Gauthier et al., “Artificial Intelligence in Early Detection of Dementia,” </a:t>
            </a:r>
            <a:r>
              <a:rPr lang="en-US" sz="2500" b="1" i="1" dirty="0">
                <a:latin typeface="Verdana" panose="020B0604030504040204" charset="0"/>
                <a:cs typeface="Verdana" panose="020B0604030504040204" charset="0"/>
                <a:sym typeface="+mn-ea"/>
              </a:rPr>
              <a:t>Journal of Medical Systems</a:t>
            </a:r>
            <a:r>
              <a:rPr lang="en-US" sz="2500" dirty="0">
                <a:latin typeface="Verdana" panose="020B0604030504040204" charset="0"/>
                <a:cs typeface="Verdana" panose="020B0604030504040204" charset="0"/>
                <a:sym typeface="+mn-ea"/>
              </a:rPr>
              <a:t>, vol. 45, no. 3, 2021.</a:t>
            </a:r>
            <a:endParaRPr lang="en-US" sz="2500" dirty="0">
              <a:latin typeface="Verdana" panose="020B0604030504040204" charset="0"/>
              <a:cs typeface="Verdana" panose="020B0604030504040204" charset="0"/>
            </a:endParaRPr>
          </a:p>
          <a:p>
            <a:pPr marL="12700" indent="0" algn="l">
              <a:lnSpc>
                <a:spcPct val="100000"/>
              </a:lnSpc>
              <a:spcBef>
                <a:spcPts val="505"/>
              </a:spcBef>
              <a:buNone/>
            </a:pPr>
            <a:r>
              <a:rPr lang="en-US" sz="2500" dirty="0">
                <a:latin typeface="Verdana" panose="020B0604030504040204" charset="0"/>
                <a:cs typeface="Verdana" panose="020B0604030504040204" charset="0"/>
                <a:sym typeface="+mn-ea"/>
              </a:rPr>
              <a:t>[4]. A. Fraser et al., “Detecting Cognitive Decline Using Speech and Language</a:t>
            </a:r>
            <a:r>
              <a:rPr lang="en-IN" altLang="en-US" sz="250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lang="en-US" sz="250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lang="en-IN" altLang="en-US" sz="2500" dirty="0">
                <a:latin typeface="Verdana" panose="020B0604030504040204" charset="0"/>
                <a:cs typeface="Verdana" panose="020B0604030504040204" charset="0"/>
                <a:sym typeface="+mn-ea"/>
              </a:rPr>
              <a:t>   </a:t>
            </a:r>
            <a:r>
              <a:rPr lang="en-US" sz="2500" dirty="0">
                <a:latin typeface="Verdana" panose="020B0604030504040204" charset="0"/>
                <a:cs typeface="Verdana" panose="020B0604030504040204" charset="0"/>
                <a:sym typeface="+mn-ea"/>
              </a:rPr>
              <a:t>Analysis,” </a:t>
            </a:r>
            <a:r>
              <a:rPr lang="en-US" sz="2500" b="1" i="1" dirty="0">
                <a:latin typeface="Verdana" panose="020B0604030504040204" charset="0"/>
                <a:cs typeface="Verdana" panose="020B0604030504040204" charset="0"/>
                <a:sym typeface="+mn-ea"/>
              </a:rPr>
              <a:t>IEEE Journal of</a:t>
            </a:r>
            <a:r>
              <a:rPr lang="en-IN" altLang="en-US" sz="2500" b="1" i="1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lang="en-US" sz="2500" b="1" i="1" dirty="0">
                <a:latin typeface="Verdana" panose="020B0604030504040204" charset="0"/>
                <a:cs typeface="Verdana" panose="020B0604030504040204" charset="0"/>
                <a:sym typeface="+mn-ea"/>
              </a:rPr>
              <a:t>Biomedical and Health Informatics</a:t>
            </a:r>
            <a:r>
              <a:rPr lang="en-US" sz="2500" dirty="0">
                <a:latin typeface="Verdana" panose="020B0604030504040204" charset="0"/>
                <a:cs typeface="Verdana" panose="020B0604030504040204" charset="0"/>
                <a:sym typeface="+mn-ea"/>
              </a:rPr>
              <a:t>, 2020.</a:t>
            </a:r>
            <a:endParaRPr lang="en-US" sz="2500" dirty="0">
              <a:latin typeface="Verdana" panose="020B0604030504040204" charset="0"/>
              <a:cs typeface="Verdana" panose="020B0604030504040204" charset="0"/>
            </a:endParaRPr>
          </a:p>
          <a:p>
            <a:pPr marL="460375" marR="1768475" indent="-447675" algn="l">
              <a:lnSpc>
                <a:spcPct val="110000"/>
              </a:lnSpc>
              <a:spcBef>
                <a:spcPts val="495"/>
              </a:spcBef>
              <a:buNone/>
            </a:pPr>
            <a:r>
              <a:rPr lang="en-US" sz="2500" dirty="0">
                <a:latin typeface="Verdana" panose="020B0604030504040204" charset="0"/>
                <a:cs typeface="Verdana" panose="020B0604030504040204" charset="0"/>
                <a:sym typeface="+mn-ea"/>
              </a:rPr>
              <a:t>[5].</a:t>
            </a:r>
            <a:r>
              <a:rPr lang="en-IN" altLang="en-US" sz="250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lang="en-US" sz="2500" dirty="0">
                <a:latin typeface="Verdana" panose="020B0604030504040204" charset="0"/>
                <a:cs typeface="Verdana" panose="020B0604030504040204" charset="0"/>
                <a:sym typeface="+mn-ea"/>
              </a:rPr>
              <a:t>Scikit-learn Developers, “Machine Learning in Python,” Sciki</a:t>
            </a:r>
            <a:r>
              <a:rPr lang="en-IN" altLang="en-US" sz="2500" dirty="0">
                <a:latin typeface="Verdana" panose="020B0604030504040204" charset="0"/>
                <a:cs typeface="Verdana" panose="020B0604030504040204" charset="0"/>
                <a:sym typeface="+mn-ea"/>
              </a:rPr>
              <a:t>t-learn documentation </a:t>
            </a:r>
            <a:r>
              <a:rPr lang="en-US" sz="2500" dirty="0">
                <a:solidFill>
                  <a:srgbClr val="0000FF"/>
                </a:solidFill>
                <a:latin typeface="Verdana" panose="020B0604030504040204" charset="0"/>
                <a:cs typeface="Verdana" panose="020B0604030504040204" charset="0"/>
                <a:sym typeface="+mn-ea"/>
                <a:hlinkClick r:id="rId3"/>
              </a:rPr>
              <a:t>https://scikit-</a:t>
            </a:r>
            <a:r>
              <a:rPr lang="en-US" sz="2500" u="sng" dirty="0">
                <a:solidFill>
                  <a:srgbClr val="0000FF"/>
                </a:solidFill>
                <a:latin typeface="Verdana" panose="020B0604030504040204" charset="0"/>
                <a:cs typeface="Verdana" panose="020B0604030504040204" charset="0"/>
                <a:sym typeface="+mn-ea"/>
              </a:rPr>
              <a:t>l</a:t>
            </a:r>
            <a:r>
              <a:rPr lang="en-US" sz="2500" dirty="0">
                <a:solidFill>
                  <a:srgbClr val="0000FF"/>
                </a:solidFill>
                <a:latin typeface="Verdana" panose="020B0604030504040204" charset="0"/>
                <a:cs typeface="Verdana" panose="020B0604030504040204" charset="0"/>
                <a:sym typeface="+mn-ea"/>
                <a:hlinkClick r:id="rId3"/>
              </a:rPr>
              <a:t>earn.org</a:t>
            </a:r>
            <a:endParaRPr lang="en-US" sz="2500">
              <a:latin typeface="Verdana" panose="020B0604030504040204" charset="0"/>
              <a:cs typeface="Verdana" panose="020B0604030504040204" charset="0"/>
            </a:endParaRPr>
          </a:p>
          <a:p>
            <a:pPr marL="12700" indent="0" algn="l">
              <a:lnSpc>
                <a:spcPct val="100000"/>
              </a:lnSpc>
              <a:spcBef>
                <a:spcPts val="505"/>
              </a:spcBef>
              <a:buNone/>
            </a:pPr>
            <a:r>
              <a:rPr lang="en-US" sz="2500" dirty="0">
                <a:latin typeface="Verdana" panose="020B0604030504040204" charset="0"/>
                <a:cs typeface="Verdana" panose="020B0604030504040204" charset="0"/>
                <a:sym typeface="+mn-ea"/>
              </a:rPr>
              <a:t>[6]. TensorFlow, “An End-to-End Open Source Machine Learning Platform,” </a:t>
            </a:r>
            <a:r>
              <a:rPr lang="en-IN" altLang="en-US" sz="250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lang="en-US" sz="2500" dirty="0">
                <a:latin typeface="Verdana" panose="020B0604030504040204" charset="0"/>
                <a:cs typeface="Verdana" panose="020B0604030504040204" charset="0"/>
                <a:sym typeface="+mn-ea"/>
              </a:rPr>
              <a:t>TensorFlow.org.</a:t>
            </a:r>
            <a:endParaRPr lang="en-US" sz="2500" dirty="0">
              <a:latin typeface="Verdana" panose="020B0604030504040204" charset="0"/>
              <a:cs typeface="Verdana" panose="020B0604030504040204" charset="0"/>
              <a:sym typeface="+mn-ea"/>
            </a:endParaRPr>
          </a:p>
          <a:p>
            <a:pPr marL="12700" indent="0" algn="l">
              <a:lnSpc>
                <a:spcPct val="100000"/>
              </a:lnSpc>
              <a:spcBef>
                <a:spcPts val="505"/>
              </a:spcBef>
              <a:buNone/>
            </a:pPr>
            <a:r>
              <a:rPr lang="en-US" sz="2500" dirty="0">
                <a:solidFill>
                  <a:srgbClr val="0000FF"/>
                </a:solidFill>
                <a:latin typeface="Verdana" panose="020B0604030504040204" charset="0"/>
                <a:cs typeface="Verdana" panose="020B0604030504040204" charset="0"/>
                <a:sym typeface="+mn-ea"/>
                <a:hlinkClick r:id="rId4"/>
              </a:rPr>
              <a:t>https://www.tensorflow.org</a:t>
            </a:r>
            <a:endParaRPr lang="en-US" sz="2500" dirty="0">
              <a:solidFill>
                <a:srgbClr val="0000FF"/>
              </a:solidFill>
              <a:latin typeface="Verdana" panose="020B0604030504040204" charset="0"/>
              <a:cs typeface="Verdana" panose="020B0604030504040204" charset="0"/>
              <a:sym typeface="+mn-ea"/>
              <a:hlinkClick r:id="rId4"/>
            </a:endParaRPr>
          </a:p>
          <a:p>
            <a:pPr marL="460375" indent="0" algn="l">
              <a:lnSpc>
                <a:spcPct val="100000"/>
              </a:lnSpc>
              <a:spcBef>
                <a:spcPts val="0"/>
              </a:spcBef>
              <a:buNone/>
            </a:pPr>
            <a:endParaRPr sz="2500" dirty="0">
              <a:latin typeface="Verdana" panose="020B0604030504040204" charset="0"/>
              <a:ea typeface="Cambria" panose="02040503050406030204" pitchFamily="18" charset="0"/>
              <a:cs typeface="Verdana" panose="020B0604030504040204" charset="0"/>
            </a:endParaRPr>
          </a:p>
          <a:p>
            <a:pPr marL="460375" indent="0" algn="l">
              <a:lnSpc>
                <a:spcPct val="100000"/>
              </a:lnSpc>
              <a:spcBef>
                <a:spcPts val="0"/>
              </a:spcBef>
              <a:buNone/>
            </a:pPr>
            <a:endParaRPr sz="2500" dirty="0">
              <a:latin typeface="Verdana" panose="020B0604030504040204" charset="0"/>
              <a:ea typeface="Cambria" panose="02040503050406030204" pitchFamily="18" charset="0"/>
              <a:cs typeface="Verdana" panose="020B06040305040402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20000"/>
          </a:bodyPr>
          <a:p>
            <a:pPr marL="76200" indent="0">
              <a:lnSpc>
                <a:spcPct val="110000"/>
              </a:lnSpc>
              <a:spcBef>
                <a:spcPts val="505"/>
              </a:spcBef>
              <a:buNone/>
            </a:pPr>
            <a:r>
              <a:rPr lang="en-US" sz="2000" dirty="0">
                <a:latin typeface="Verdana" panose="020B0604030504040204" charset="0"/>
                <a:cs typeface="Verdana" panose="020B0604030504040204" charset="0"/>
                <a:sym typeface="+mn-ea"/>
              </a:rPr>
              <a:t>[7]. </a:t>
            </a:r>
            <a:r>
              <a:rPr lang="en-US" sz="2000" err="1">
                <a:latin typeface="Verdana" panose="020B0604030504040204" charset="0"/>
                <a:cs typeface="Verdana" panose="020B0604030504040204" charset="0"/>
                <a:sym typeface="+mn-ea"/>
              </a:rPr>
              <a:t>Librosa</a:t>
            </a:r>
            <a:r>
              <a:rPr lang="en-US" sz="2000" dirty="0">
                <a:latin typeface="Verdana" panose="020B0604030504040204" charset="0"/>
                <a:cs typeface="Verdana" panose="020B0604030504040204" charset="0"/>
                <a:sym typeface="+mn-ea"/>
              </a:rPr>
              <a:t> Developers, “</a:t>
            </a:r>
            <a:r>
              <a:rPr lang="en-US" sz="2000" err="1">
                <a:latin typeface="Verdana" panose="020B0604030504040204" charset="0"/>
                <a:cs typeface="Verdana" panose="020B0604030504040204" charset="0"/>
                <a:sym typeface="+mn-ea"/>
              </a:rPr>
              <a:t>Librosa</a:t>
            </a:r>
            <a:r>
              <a:rPr lang="en-US" sz="2000" dirty="0">
                <a:latin typeface="Verdana" panose="020B0604030504040204" charset="0"/>
                <a:cs typeface="Verdana" panose="020B0604030504040204" charset="0"/>
                <a:sym typeface="+mn-ea"/>
              </a:rPr>
              <a:t>: Audio and Music Signal Analysis in Python,” </a:t>
            </a:r>
            <a:r>
              <a:rPr lang="en-US" sz="2000" err="1">
                <a:latin typeface="Verdana" panose="020B0604030504040204" charset="0"/>
                <a:cs typeface="Verdana" panose="020B0604030504040204" charset="0"/>
                <a:sym typeface="+mn-ea"/>
              </a:rPr>
              <a:t>Librosa</a:t>
            </a:r>
            <a:r>
              <a:rPr lang="en-US" sz="2000" dirty="0">
                <a:latin typeface="Verdana" panose="020B0604030504040204" charset="0"/>
                <a:cs typeface="Verdana" panose="020B0604030504040204" charset="0"/>
                <a:sym typeface="+mn-ea"/>
              </a:rPr>
              <a:t> Documentation.</a:t>
            </a:r>
            <a:r>
              <a:rPr lang="en-US" sz="2000" dirty="0">
                <a:solidFill>
                  <a:srgbClr val="0000FF"/>
                </a:solidFill>
                <a:latin typeface="Verdana" panose="020B0604030504040204" charset="0"/>
                <a:cs typeface="Verdana" panose="020B0604030504040204" charset="0"/>
                <a:sym typeface="+mn-ea"/>
                <a:hlinkClick r:id="rId1"/>
              </a:rPr>
              <a:t>https://librosa.org</a:t>
            </a:r>
            <a:endParaRPr lang="en-US" sz="2000" dirty="0">
              <a:latin typeface="Verdana" panose="020B0604030504040204" charset="0"/>
              <a:cs typeface="Verdana" panose="020B0604030504040204" charset="0"/>
            </a:endParaRPr>
          </a:p>
          <a:p>
            <a:pPr marL="76200" indent="0">
              <a:lnSpc>
                <a:spcPct val="110000"/>
              </a:lnSpc>
              <a:spcBef>
                <a:spcPts val="495"/>
              </a:spcBef>
              <a:buNone/>
            </a:pPr>
            <a:r>
              <a:rPr lang="en-US" sz="2000" dirty="0">
                <a:latin typeface="Verdana" panose="020B0604030504040204" charset="0"/>
                <a:cs typeface="Verdana" panose="020B0604030504040204" charset="0"/>
                <a:sym typeface="+mn-ea"/>
              </a:rPr>
              <a:t>[8]. Google Research, “Speech Recognition and Cognitive Analysis Using AI,” Google AI Blog.</a:t>
            </a:r>
            <a:r>
              <a:rPr lang="en-US" sz="2000" dirty="0">
                <a:solidFill>
                  <a:srgbClr val="0000FF"/>
                </a:solidFill>
                <a:latin typeface="Verdana" panose="020B0604030504040204" charset="0"/>
                <a:cs typeface="Verdana" panose="020B0604030504040204" charset="0"/>
                <a:sym typeface="+mn-ea"/>
                <a:hlinkClick r:id="rId2"/>
              </a:rPr>
              <a:t>https://ai.googleblog.com</a:t>
            </a:r>
            <a:endParaRPr lang="en-US" sz="2000" dirty="0">
              <a:latin typeface="Verdana" panose="020B0604030504040204" charset="0"/>
              <a:cs typeface="Verdana" panose="020B0604030504040204" charset="0"/>
            </a:endParaRPr>
          </a:p>
          <a:p>
            <a:pPr marL="76200" indent="0">
              <a:lnSpc>
                <a:spcPct val="110000"/>
              </a:lnSpc>
              <a:spcBef>
                <a:spcPts val="500"/>
              </a:spcBef>
              <a:buNone/>
            </a:pPr>
            <a:r>
              <a:rPr lang="en-US" sz="2000" dirty="0">
                <a:latin typeface="Verdana" panose="020B0604030504040204" charset="0"/>
                <a:cs typeface="Verdana" panose="020B0604030504040204" charset="0"/>
                <a:sym typeface="+mn-ea"/>
              </a:rPr>
              <a:t>[9]. ChatGPT, OpenAI, “AI-assisted Research and Content Generation Tool,” OpenAI.</a:t>
            </a:r>
            <a:r>
              <a:rPr lang="en-US" sz="2000" dirty="0">
                <a:solidFill>
                  <a:srgbClr val="0000FF"/>
                </a:solidFill>
                <a:latin typeface="Verdana" panose="020B0604030504040204" charset="0"/>
                <a:cs typeface="Verdana" panose="020B0604030504040204" charset="0"/>
                <a:sym typeface="+mn-ea"/>
                <a:hlinkClick r:id="rId3"/>
              </a:rPr>
              <a:t>https://www.openai</a:t>
            </a:r>
            <a:r>
              <a:rPr lang="en-US" sz="2000" u="sng" dirty="0">
                <a:solidFill>
                  <a:srgbClr val="0000FF"/>
                </a:solidFill>
                <a:latin typeface="Verdana" panose="020B0604030504040204" charset="0"/>
                <a:cs typeface="Verdana" panose="020B0604030504040204" charset="0"/>
                <a:sym typeface="+mn-ea"/>
              </a:rPr>
              <a:t>.</a:t>
            </a:r>
            <a:r>
              <a:rPr lang="en-US" sz="2000" dirty="0">
                <a:solidFill>
                  <a:srgbClr val="0000FF"/>
                </a:solidFill>
                <a:latin typeface="Verdana" panose="020B0604030504040204" charset="0"/>
                <a:cs typeface="Verdana" panose="020B0604030504040204" charset="0"/>
                <a:sym typeface="+mn-ea"/>
                <a:hlinkClick r:id="rId3"/>
              </a:rPr>
              <a:t>com</a:t>
            </a:r>
            <a:endParaRPr lang="en-US" sz="2000" dirty="0">
              <a:latin typeface="Verdana" panose="020B0604030504040204" charset="0"/>
              <a:cs typeface="Verdana" panose="020B0604030504040204" charset="0"/>
            </a:endParaRPr>
          </a:p>
          <a:p>
            <a:pPr marL="7620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dirty="0">
                <a:latin typeface="Verdana" panose="020B0604030504040204" charset="0"/>
                <a:ea typeface="Calibri" panose="020F0502020204030204"/>
                <a:cs typeface="Verdana" panose="020B0604030504040204" charset="0"/>
                <a:sym typeface="+mn-ea"/>
              </a:rPr>
              <a:t>[10]. Petersen, R. C., “Early Diagnosis of Alzheimer’s Disease: Is MCI Too Late?,” </a:t>
            </a:r>
            <a:r>
              <a:rPr lang="en-US" sz="2000" i="1" dirty="0">
                <a:latin typeface="Verdana" panose="020B0604030504040204" charset="0"/>
                <a:ea typeface="Calibri" panose="020F0502020204030204"/>
                <a:cs typeface="Verdana" panose="020B0604030504040204" charset="0"/>
                <a:sym typeface="+mn-ea"/>
              </a:rPr>
              <a:t>Current Alzheimer Research</a:t>
            </a:r>
            <a:r>
              <a:rPr lang="en-US" sz="2000" dirty="0">
                <a:latin typeface="Verdana" panose="020B0604030504040204" charset="0"/>
                <a:ea typeface="Calibri" panose="020F0502020204030204"/>
                <a:cs typeface="Verdana" panose="020B0604030504040204" charset="0"/>
                <a:sym typeface="+mn-ea"/>
              </a:rPr>
              <a:t>, vol. 6,no. 4, pp. 324–330, 2009.</a:t>
            </a:r>
            <a:endParaRPr lang="en-US" sz="2000" dirty="0">
              <a:latin typeface="Verdana" panose="020B0604030504040204" charset="0"/>
              <a:ea typeface="Cambria" panose="02040503050406030204"/>
              <a:cs typeface="Verdana" panose="020B0604030504040204" charset="0"/>
            </a:endParaRPr>
          </a:p>
          <a:p>
            <a:pPr marL="7620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dirty="0">
                <a:latin typeface="Verdana" panose="020B0604030504040204" charset="0"/>
                <a:ea typeface="Calibri" panose="020F0502020204030204"/>
                <a:cs typeface="Verdana" panose="020B0604030504040204" charset="0"/>
                <a:sym typeface="+mn-ea"/>
              </a:rPr>
              <a:t>[11]. Jack, C. R. et al., “NIA-AA Research Framework: Toward a Biological Definition of Alzheimer’s </a:t>
            </a:r>
            <a:r>
              <a:rPr lang="en-US" sz="2000" dirty="0" err="1">
                <a:latin typeface="Verdana" panose="020B0604030504040204" charset="0"/>
                <a:ea typeface="Calibri" panose="020F0502020204030204"/>
                <a:cs typeface="Verdana" panose="020B0604030504040204" charset="0"/>
                <a:sym typeface="+mn-ea"/>
              </a:rPr>
              <a:t>Disease,”</a:t>
            </a:r>
            <a:r>
              <a:rPr lang="en-US" sz="2000" i="1" dirty="0" err="1">
                <a:latin typeface="Verdana" panose="020B0604030504040204" charset="0"/>
                <a:ea typeface="Calibri" panose="020F0502020204030204"/>
                <a:cs typeface="Verdana" panose="020B0604030504040204" charset="0"/>
                <a:sym typeface="+mn-ea"/>
              </a:rPr>
              <a:t>Alzheimer’s</a:t>
            </a:r>
            <a:r>
              <a:rPr lang="en-US" sz="2000" i="1" dirty="0">
                <a:latin typeface="Verdana" panose="020B0604030504040204" charset="0"/>
                <a:ea typeface="Calibri" panose="020F0502020204030204"/>
                <a:cs typeface="Verdana" panose="020B0604030504040204" charset="0"/>
                <a:sym typeface="+mn-ea"/>
              </a:rPr>
              <a:t> &amp; Dementia</a:t>
            </a:r>
            <a:r>
              <a:rPr lang="en-US" sz="2000" dirty="0">
                <a:latin typeface="Verdana" panose="020B0604030504040204" charset="0"/>
                <a:ea typeface="Calibri" panose="020F0502020204030204"/>
                <a:cs typeface="Verdana" panose="020B0604030504040204" charset="0"/>
                <a:sym typeface="+mn-ea"/>
              </a:rPr>
              <a:t>, vol. 14, no. 4, pp. 535–562, 2018.</a:t>
            </a:r>
            <a:endParaRPr lang="en-US" sz="2000" dirty="0">
              <a:latin typeface="Verdana" panose="020B0604030504040204" charset="0"/>
              <a:ea typeface="Calibri" panose="020F0502020204030204"/>
              <a:cs typeface="Verdana" panose="020B0604030504040204" charset="0"/>
            </a:endParaRPr>
          </a:p>
          <a:p>
            <a:pPr marL="7620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dirty="0">
                <a:latin typeface="Verdana" panose="020B0604030504040204" charset="0"/>
                <a:ea typeface="Calibri" panose="020F0502020204030204"/>
                <a:cs typeface="Verdana" panose="020B0604030504040204" charset="0"/>
                <a:sym typeface="+mn-ea"/>
              </a:rPr>
              <a:t>[12]. Shah, S. et al., “A Survey on Machine Learning Techniques for Dementia Detection,” </a:t>
            </a:r>
            <a:r>
              <a:rPr lang="en-US" sz="2000" i="1" dirty="0">
                <a:latin typeface="Verdana" panose="020B0604030504040204" charset="0"/>
                <a:ea typeface="Calibri" panose="020F0502020204030204"/>
                <a:cs typeface="Verdana" panose="020B0604030504040204" charset="0"/>
                <a:sym typeface="+mn-ea"/>
              </a:rPr>
              <a:t>Computer Methods </a:t>
            </a:r>
            <a:r>
              <a:rPr lang="en-US" sz="2000" i="1" dirty="0" err="1">
                <a:latin typeface="Verdana" panose="020B0604030504040204" charset="0"/>
                <a:ea typeface="Calibri" panose="020F0502020204030204"/>
                <a:cs typeface="Verdana" panose="020B0604030504040204" charset="0"/>
                <a:sym typeface="+mn-ea"/>
              </a:rPr>
              <a:t>andPrograms</a:t>
            </a:r>
            <a:r>
              <a:rPr lang="en-US" sz="2000" i="1" dirty="0">
                <a:latin typeface="Verdana" panose="020B0604030504040204" charset="0"/>
                <a:ea typeface="Calibri" panose="020F0502020204030204"/>
                <a:cs typeface="Verdana" panose="020B0604030504040204" charset="0"/>
                <a:sym typeface="+mn-ea"/>
              </a:rPr>
              <a:t> in Biomedicine</a:t>
            </a:r>
            <a:r>
              <a:rPr lang="en-US" sz="2000" dirty="0">
                <a:latin typeface="Verdana" panose="020B0604030504040204" charset="0"/>
                <a:ea typeface="Calibri" panose="020F0502020204030204"/>
                <a:cs typeface="Verdana" panose="020B0604030504040204" charset="0"/>
                <a:sym typeface="+mn-ea"/>
              </a:rPr>
              <a:t>, vol. 189, 2020.</a:t>
            </a:r>
            <a:endParaRPr lang="en-US" sz="2000" dirty="0">
              <a:latin typeface="Verdana" panose="020B0604030504040204" charset="0"/>
              <a:ea typeface="Calibri" panose="020F0502020204030204"/>
              <a:cs typeface="Verdana" panose="020B0604030504040204" charset="0"/>
            </a:endParaRPr>
          </a:p>
          <a:p>
            <a:pPr marL="7620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dirty="0">
                <a:latin typeface="Verdana" panose="020B0604030504040204" charset="0"/>
                <a:ea typeface="Calibri" panose="020F0502020204030204"/>
                <a:cs typeface="Verdana" panose="020B0604030504040204" charset="0"/>
                <a:sym typeface="+mn-ea"/>
              </a:rPr>
              <a:t>[13]. López-de-</a:t>
            </a:r>
            <a:r>
              <a:rPr lang="en-US" sz="2000" dirty="0" err="1">
                <a:latin typeface="Verdana" panose="020B0604030504040204" charset="0"/>
                <a:ea typeface="Calibri" panose="020F0502020204030204"/>
                <a:cs typeface="Verdana" panose="020B0604030504040204" charset="0"/>
                <a:sym typeface="+mn-ea"/>
              </a:rPr>
              <a:t>Ipiña</a:t>
            </a:r>
            <a:r>
              <a:rPr lang="en-US" sz="2000" dirty="0">
                <a:latin typeface="Verdana" panose="020B0604030504040204" charset="0"/>
                <a:ea typeface="Calibri" panose="020F0502020204030204"/>
                <a:cs typeface="Verdana" panose="020B0604030504040204" charset="0"/>
                <a:sym typeface="+mn-ea"/>
              </a:rPr>
              <a:t>, K. et al., “Analysis of Speech and Language for Early Detection of Alzheimer’s </a:t>
            </a:r>
            <a:r>
              <a:rPr lang="en-US" sz="2000" dirty="0" err="1">
                <a:latin typeface="Verdana" panose="020B0604030504040204" charset="0"/>
                <a:ea typeface="Calibri" panose="020F0502020204030204"/>
                <a:cs typeface="Verdana" panose="020B0604030504040204" charset="0"/>
                <a:sym typeface="+mn-ea"/>
              </a:rPr>
              <a:t>Disease,”</a:t>
            </a:r>
            <a:r>
              <a:rPr lang="en-US" sz="2000" i="1" dirty="0" err="1">
                <a:latin typeface="Verdana" panose="020B0604030504040204" charset="0"/>
                <a:ea typeface="Calibri" panose="020F0502020204030204"/>
                <a:cs typeface="Verdana" panose="020B0604030504040204" charset="0"/>
                <a:sym typeface="+mn-ea"/>
              </a:rPr>
              <a:t>Neurocomputing</a:t>
            </a:r>
            <a:r>
              <a:rPr lang="en-US" sz="2000" dirty="0">
                <a:latin typeface="Verdana" panose="020B0604030504040204" charset="0"/>
                <a:ea typeface="Calibri" panose="020F0502020204030204"/>
                <a:cs typeface="Verdana" panose="020B0604030504040204" charset="0"/>
                <a:sym typeface="+mn-ea"/>
              </a:rPr>
              <a:t>, vol. 150, pp. 392–402, 2015</a:t>
            </a:r>
            <a:r>
              <a:rPr lang="en-IN" altLang="en-US" sz="2000" dirty="0">
                <a:latin typeface="Verdana" panose="020B0604030504040204" charset="0"/>
                <a:ea typeface="Calibri" panose="020F0502020204030204"/>
                <a:cs typeface="Verdana" panose="020B0604030504040204" charset="0"/>
                <a:sym typeface="+mn-ea"/>
              </a:rPr>
              <a:t>.</a:t>
            </a:r>
            <a:endParaRPr lang="en-IN" altLang="en-US" sz="2000" dirty="0">
              <a:latin typeface="Verdana" panose="020B0604030504040204" charset="0"/>
              <a:ea typeface="Calibri" panose="020F0502020204030204"/>
              <a:cs typeface="Verdana" panose="020B0604030504040204" charset="0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latin typeface="Verdana" panose="020B0604030504040204" charset="0"/>
                <a:ea typeface="Calibri" panose="020F0502020204030204"/>
                <a:cs typeface="Verdana" panose="020B0604030504040204" charset="0"/>
                <a:sym typeface="+mn-ea"/>
              </a:rPr>
              <a:t>[14]. World Alzheimer Report 2023, “Reducing Dementia Risk: Never Too Early, Never Too Late,” Alzheimer’s </a:t>
            </a:r>
            <a:r>
              <a:rPr lang="en-US" sz="2000" dirty="0" err="1">
                <a:latin typeface="Verdana" panose="020B0604030504040204" charset="0"/>
                <a:ea typeface="Calibri" panose="020F0502020204030204"/>
                <a:cs typeface="Verdana" panose="020B0604030504040204" charset="0"/>
                <a:sym typeface="+mn-ea"/>
              </a:rPr>
              <a:t>DiseaseInternational</a:t>
            </a:r>
            <a:r>
              <a:rPr lang="en-US" sz="2000" dirty="0">
                <a:latin typeface="Verdana" panose="020B0604030504040204" charset="0"/>
                <a:ea typeface="Calibri" panose="020F0502020204030204"/>
                <a:cs typeface="Verdana" panose="020B0604030504040204" charset="0"/>
                <a:sym typeface="+mn-ea"/>
              </a:rPr>
              <a:t> (ADI).</a:t>
            </a:r>
            <a:endParaRPr lang="en-US" sz="2000" dirty="0">
              <a:latin typeface="Verdana" panose="020B0604030504040204" charset="0"/>
              <a:ea typeface="Calibri" panose="020F0502020204030204"/>
              <a:cs typeface="Verdana" panose="020B060403050404020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latin typeface="Verdana" panose="020B0604030504040204" charset="0"/>
                <a:ea typeface="Calibri" panose="020F0502020204030204"/>
                <a:cs typeface="Verdana" panose="020B0604030504040204" charset="0"/>
                <a:sym typeface="+mn-ea"/>
              </a:rPr>
              <a:t>[15]. Esteva, A. et al., “A Guide to Deep Learning in Healthcare,” </a:t>
            </a:r>
            <a:r>
              <a:rPr lang="en-US" sz="2000" i="1" dirty="0">
                <a:latin typeface="Verdana" panose="020B0604030504040204" charset="0"/>
                <a:ea typeface="Calibri" panose="020F0502020204030204"/>
                <a:cs typeface="Verdana" panose="020B0604030504040204" charset="0"/>
                <a:sym typeface="+mn-ea"/>
              </a:rPr>
              <a:t>Nature Medicine</a:t>
            </a:r>
            <a:r>
              <a:rPr lang="en-US" sz="2000" dirty="0">
                <a:latin typeface="Verdana" panose="020B0604030504040204" charset="0"/>
                <a:ea typeface="Calibri" panose="020F0502020204030204"/>
                <a:cs typeface="Verdana" panose="020B0604030504040204" charset="0"/>
                <a:sym typeface="+mn-ea"/>
              </a:rPr>
              <a:t>, vol. 25, pp. 24–29, 2019.</a:t>
            </a:r>
            <a:endParaRPr lang="en-US" sz="2000" dirty="0">
              <a:latin typeface="Verdana" panose="020B0604030504040204" charset="0"/>
              <a:cs typeface="Verdana" panose="020B0604030504040204" charset="0"/>
            </a:endParaRPr>
          </a:p>
          <a:p>
            <a:endParaRPr lang="en-US" sz="2000">
              <a:latin typeface="Verdana" panose="020B0604030504040204" charset="0"/>
              <a:cs typeface="Verdana" panose="020B06040305040402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426*142"/>
  <p:tag name="TABLE_ENDDRAG_RECT" val="53*238*426*142"/>
</p:tagLst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8238</Words>
  <Application>WPS Presentation</Application>
  <PresentationFormat>Widescreen</PresentationFormat>
  <Paragraphs>266</Paragraphs>
  <Slides>18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2" baseType="lpstr">
      <vt:lpstr>Arial</vt:lpstr>
      <vt:lpstr>SimSun</vt:lpstr>
      <vt:lpstr>Wingdings</vt:lpstr>
      <vt:lpstr>Arial</vt:lpstr>
      <vt:lpstr>Verdana</vt:lpstr>
      <vt:lpstr>Bookman Old Style</vt:lpstr>
      <vt:lpstr>Cambria</vt:lpstr>
      <vt:lpstr>Cambria</vt:lpstr>
      <vt:lpstr>Arial MT</vt:lpstr>
      <vt:lpstr>Verdana</vt:lpstr>
      <vt:lpstr>Calibri</vt:lpstr>
      <vt:lpstr>Microsoft YaHei</vt:lpstr>
      <vt:lpstr>Arial Unicode MS</vt:lpstr>
      <vt:lpstr>Bioinformatics</vt:lpstr>
      <vt:lpstr>AI TOOL for Early Stage Dementia Detection</vt:lpstr>
      <vt:lpstr>Problem Statement Number </vt:lpstr>
      <vt:lpstr>Content </vt:lpstr>
      <vt:lpstr>Chapter 1: Introduction to AI Tool - Brand Overview, Mission and Products</vt:lpstr>
      <vt:lpstr>Chapter 2: Market Analysis – Stationery Market Trends and Online Competition</vt:lpstr>
      <vt:lpstr>Chapter 3: Target Audience – Clinic’s/Hospital’s(Large-scale or small-scale)</vt:lpstr>
      <vt:lpstr>Chapter 4: Marketing – Media, E-Mail, Campaigns, Influencer Reach, Customer Services, Newsletters</vt:lpstr>
      <vt:lpstr>Chapter 5: Analytics &amp; ROI – Using Data-Driven Insights for Improvement</vt:lpstr>
      <vt:lpstr>Chapter 6: Conclusion &amp; Future Roadmap – Scaling  Sales, Deployment Growth and Increasing Accuracy</vt:lpstr>
      <vt:lpstr>Architectural Diagram</vt:lpstr>
      <vt:lpstr>Modules</vt:lpstr>
      <vt:lpstr>Hardware &amp; Software Details</vt:lpstr>
      <vt:lpstr>Github Link</vt:lpstr>
      <vt:lpstr>Timeline of the Project (Gantt Chart)</vt:lpstr>
      <vt:lpstr>References (IEEE Paper format)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Vanka Revanth Adithya</cp:lastModifiedBy>
  <cp:revision>65</cp:revision>
  <dcterms:created xsi:type="dcterms:W3CDTF">2025-08-09T12:05:00Z</dcterms:created>
  <dcterms:modified xsi:type="dcterms:W3CDTF">2026-03-04T06:45:52Z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799E697D722A46808673583D039C5EC4_12</vt:lpwstr>
  </property>
  <property fmtid="{D5CDD505-2E9C-101B-9397-08002B2CF9AE}" pid="3" name="KSOProductBuildVer">
    <vt:lpwstr>1033-12.2.0.23196</vt:lpwstr>
  </property>
</Properties>
</file>